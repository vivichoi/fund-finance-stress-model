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3474720" cy="457200"/>
          </a:xfrm>
          <a:prstGeom prst="rect">
            <a:avLst/>
          </a:prstGeom>
          <a:noFill/>
        </p:spPr>
        <p:txBody>
          <a:bodyPr wrap="square" anchor="t" lIns="0" rIns="0" tIns="0" bIns="0">
            <a:spAutoFit/>
          </a:bodyPr>
          <a:lstStyle/>
          <a:p>
            <a:pPr algn="l">
              <a:lnSpc>
                <a:spcPct val="115000"/>
              </a:lnSpc>
            </a:pPr>
            <a:r>
              <a:rPr sz="1100" b="1" i="0">
                <a:solidFill>
                  <a:srgbClr val="D7AEB5"/>
                </a:solidFill>
                <a:latin typeface="Helvetica Neue"/>
              </a:rPr>
              <a:t>FIRST LOOK</a:t>
            </a:r>
          </a:p>
        </p:txBody>
      </p:sp>
      <p:sp>
        <p:nvSpPr>
          <p:cNvPr id="5" name="TextBox 4"/>
          <p:cNvSpPr txBox="1"/>
          <p:nvPr/>
        </p:nvSpPr>
        <p:spPr>
          <a:xfrm>
            <a:off x="502920" y="5120640"/>
            <a:ext cx="3474720" cy="365760"/>
          </a:xfrm>
          <a:prstGeom prst="rect">
            <a:avLst/>
          </a:prstGeom>
          <a:noFill/>
        </p:spPr>
        <p:txBody>
          <a:bodyPr wrap="square" anchor="t" lIns="0" rIns="0" tIns="0" bIns="0">
            <a:spAutoFit/>
          </a:bodyPr>
          <a:lstStyle/>
          <a:p>
            <a:pPr algn="l">
              <a:lnSpc>
                <a:spcPct val="115000"/>
              </a:lnSpc>
            </a:pPr>
            <a:r>
              <a:rPr sz="1400" b="1" i="0">
                <a:solidFill>
                  <a:srgbClr val="FFFFFF"/>
                </a:solidFill>
                <a:latin typeface="Helvetica Neue"/>
              </a:rPr>
              <a:t>Jiawen Cc</a:t>
            </a:r>
          </a:p>
        </p:txBody>
      </p:sp>
      <p:sp>
        <p:nvSpPr>
          <p:cNvPr id="6" name="TextBox 5"/>
          <p:cNvSpPr txBox="1"/>
          <p:nvPr/>
        </p:nvSpPr>
        <p:spPr>
          <a:xfrm>
            <a:off x="502920" y="5440680"/>
            <a:ext cx="3474720" cy="274320"/>
          </a:xfrm>
          <a:prstGeom prst="rect">
            <a:avLst/>
          </a:prstGeom>
          <a:noFill/>
        </p:spPr>
        <p:txBody>
          <a:bodyPr wrap="square" anchor="t" lIns="0" rIns="0" tIns="0" bIns="0">
            <a:spAutoFit/>
          </a:bodyPr>
          <a:lstStyle/>
          <a:p>
            <a:pPr algn="l">
              <a:lnSpc>
                <a:spcPct val="115000"/>
              </a:lnSpc>
            </a:pPr>
            <a:r>
              <a:rPr sz="1100" b="0" i="0">
                <a:solidFill>
                  <a:srgbClr val="D7AEB5"/>
                </a:solidFill>
                <a:latin typeface="Helvetica Neue"/>
              </a:rPr>
              <a:t>EE M.Sc. candidate, Politecnico di Milano</a:t>
            </a:r>
          </a:p>
        </p:txBody>
      </p:sp>
      <p:sp>
        <p:nvSpPr>
          <p:cNvPr id="7" name="TextBox 6"/>
          <p:cNvSpPr txBox="1"/>
          <p:nvPr/>
        </p:nvSpPr>
        <p:spPr>
          <a:xfrm>
            <a:off x="502920" y="5715000"/>
            <a:ext cx="3474720" cy="274320"/>
          </a:xfrm>
          <a:prstGeom prst="rect">
            <a:avLst/>
          </a:prstGeom>
          <a:noFill/>
        </p:spPr>
        <p:txBody>
          <a:bodyPr wrap="square" anchor="t" lIns="0" rIns="0" tIns="0" bIns="0">
            <a:spAutoFit/>
          </a:bodyPr>
          <a:lstStyle/>
          <a:p>
            <a:pPr algn="l">
              <a:lnSpc>
                <a:spcPct val="115000"/>
              </a:lnSpc>
            </a:pPr>
            <a:r>
              <a:rPr sz="1100" b="0" i="1">
                <a:solidFill>
                  <a:srgbClr val="D7AEB5"/>
                </a:solidFill>
                <a:latin typeface="Helvetica Neue"/>
              </a:rPr>
              <a:t>Prepared for UniCredit CIB · Fund Financing</a:t>
            </a:r>
          </a:p>
        </p:txBody>
      </p:sp>
      <p:sp>
        <p:nvSpPr>
          <p:cNvPr id="8" name="TextBox 7"/>
          <p:cNvSpPr txBox="1"/>
          <p:nvPr/>
        </p:nvSpPr>
        <p:spPr>
          <a:xfrm>
            <a:off x="502920" y="6263640"/>
            <a:ext cx="3474720" cy="274320"/>
          </a:xfrm>
          <a:prstGeom prst="rect">
            <a:avLst/>
          </a:prstGeom>
          <a:noFill/>
        </p:spPr>
        <p:txBody>
          <a:bodyPr wrap="square" anchor="t" lIns="0" rIns="0" tIns="0" bIns="0">
            <a:spAutoFit/>
          </a:bodyPr>
          <a:lstStyle/>
          <a:p>
            <a:pPr algn="l">
              <a:lnSpc>
                <a:spcPct val="115000"/>
              </a:lnSpc>
            </a:pPr>
            <a:r>
              <a:rPr sz="1000" b="0" i="0">
                <a:solidFill>
                  <a:srgbClr val="D7AEB5"/>
                </a:solidFill>
                <a:latin typeface="Helvetica Neue"/>
              </a:rPr>
              <a:t>June 2026</a:t>
            </a:r>
          </a:p>
        </p:txBody>
      </p:sp>
      <p:sp>
        <p:nvSpPr>
          <p:cNvPr id="9" name="TextBox 8"/>
          <p:cNvSpPr txBox="1"/>
          <p:nvPr/>
        </p:nvSpPr>
        <p:spPr>
          <a:xfrm>
            <a:off x="4572000" y="1645920"/>
            <a:ext cx="7315200" cy="548640"/>
          </a:xfrm>
          <a:prstGeom prst="rect">
            <a:avLst/>
          </a:prstGeom>
          <a:noFill/>
        </p:spPr>
        <p:txBody>
          <a:bodyPr wrap="square" anchor="t" lIns="0" rIns="0" tIns="0" bIns="0">
            <a:spAutoFit/>
          </a:bodyPr>
          <a:lstStyle/>
          <a:p>
            <a:pPr algn="l">
              <a:lnSpc>
                <a:spcPct val="115000"/>
              </a:lnSpc>
            </a:pPr>
            <a:r>
              <a:rPr sz="3600" b="1" i="0">
                <a:solidFill>
                  <a:srgbClr val="1B1F29"/>
                </a:solidFill>
                <a:latin typeface="Helvetica Neue"/>
              </a:rPr>
              <a:t>A power-electronics</a:t>
            </a:r>
          </a:p>
        </p:txBody>
      </p:sp>
      <p:sp>
        <p:nvSpPr>
          <p:cNvPr id="10" name="TextBox 9"/>
          <p:cNvSpPr txBox="1"/>
          <p:nvPr/>
        </p:nvSpPr>
        <p:spPr>
          <a:xfrm>
            <a:off x="4572000" y="2286000"/>
            <a:ext cx="7315200" cy="548640"/>
          </a:xfrm>
          <a:prstGeom prst="rect">
            <a:avLst/>
          </a:prstGeom>
          <a:noFill/>
        </p:spPr>
        <p:txBody>
          <a:bodyPr wrap="square" anchor="t" lIns="0" rIns="0" tIns="0" bIns="0">
            <a:spAutoFit/>
          </a:bodyPr>
          <a:lstStyle/>
          <a:p>
            <a:pPr algn="l">
              <a:lnSpc>
                <a:spcPct val="115000"/>
              </a:lnSpc>
            </a:pPr>
            <a:r>
              <a:rPr sz="3600" b="1" i="0">
                <a:solidFill>
                  <a:srgbClr val="1B1F29"/>
                </a:solidFill>
                <a:latin typeface="Helvetica Neue"/>
              </a:rPr>
              <a:t>risk lens on NAV facilities</a:t>
            </a:r>
          </a:p>
        </p:txBody>
      </p:sp>
      <p:cxnSp>
        <p:nvCxnSpPr>
          <p:cNvPr id="11" name="Connector 10"/>
          <p:cNvCxnSpPr/>
          <p:nvPr/>
        </p:nvCxnSpPr>
        <p:spPr>
          <a:xfrm>
            <a:off x="4572000" y="3154680"/>
            <a:ext cx="1828800" cy="0"/>
          </a:xfrm>
          <a:prstGeom prst="line">
            <a:avLst/>
          </a:prstGeom>
          <a:ln w="25400">
            <a:solidFill>
              <a:srgbClr val="B6142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72000" y="3337560"/>
            <a:ext cx="7315200" cy="2286000"/>
          </a:xfrm>
          <a:prstGeom prst="rect">
            <a:avLst/>
          </a:prstGeom>
          <a:noFill/>
        </p:spPr>
        <p:txBody>
          <a:bodyPr wrap="square" anchor="t" lIns="0" rIns="0" tIns="0" bIns="0">
            <a:spAutoFit/>
          </a:bodyPr>
          <a:lstStyle/>
          <a:p>
            <a:pPr algn="l">
              <a:lnSpc>
                <a:spcPct val="140000"/>
              </a:lnSpc>
            </a:pPr>
            <a:r>
              <a:rPr sz="1500" b="0" i="1">
                <a:solidFill>
                  <a:srgbClr val="555B6B"/>
                </a:solidFill>
                <a:latin typeface="Helvetica Neue"/>
              </a:rPr>
              <a:t>Why "power electronics" is four different credits, and how sub-sector decomposition changes the covenant-breach picture for 2026 NAV / hybrid facilities.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01  ·  EXECUTIVE SUMMARY</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One page, three claims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2 / 13</a:t>
            </a:r>
          </a:p>
        </p:txBody>
      </p:sp>
      <p:sp>
        <p:nvSpPr>
          <p:cNvPr id="9" name="Rectangle 8"/>
          <p:cNvSpPr/>
          <p:nvPr/>
        </p:nvSpPr>
        <p:spPr>
          <a:xfrm>
            <a:off x="502920" y="1691640"/>
            <a:ext cx="731520" cy="109728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65960"/>
            <a:ext cx="731520" cy="548640"/>
          </a:xfrm>
          <a:prstGeom prst="rect">
            <a:avLst/>
          </a:prstGeom>
          <a:noFill/>
        </p:spPr>
        <p:txBody>
          <a:bodyPr wrap="square" anchor="t" lIns="0" rIns="0" tIns="0" bIns="0">
            <a:spAutoFit/>
          </a:bodyPr>
          <a:lstStyle/>
          <a:p>
            <a:pPr algn="ctr">
              <a:lnSpc>
                <a:spcPct val="115000"/>
              </a:lnSpc>
            </a:pPr>
            <a:r>
              <a:rPr sz="2400" b="1" i="0">
                <a:solidFill>
                  <a:srgbClr val="FFFFFF"/>
                </a:solidFill>
                <a:latin typeface="Helvetica Neue"/>
              </a:rPr>
              <a:t>01</a:t>
            </a:r>
          </a:p>
        </p:txBody>
      </p:sp>
      <p:sp>
        <p:nvSpPr>
          <p:cNvPr id="11" name="TextBox 10"/>
          <p:cNvSpPr txBox="1"/>
          <p:nvPr/>
        </p:nvSpPr>
        <p:spPr>
          <a:xfrm>
            <a:off x="1554480" y="1783080"/>
            <a:ext cx="10058400" cy="1005840"/>
          </a:xfrm>
          <a:prstGeom prst="rect">
            <a:avLst/>
          </a:prstGeom>
          <a:noFill/>
        </p:spPr>
        <p:txBody>
          <a:bodyPr wrap="square" anchor="t" lIns="0" rIns="0" tIns="0" bIns="0">
            <a:spAutoFit/>
          </a:bodyPr>
          <a:lstStyle/>
          <a:p>
            <a:pPr algn="l">
              <a:lnSpc>
                <a:spcPct val="130000"/>
              </a:lnSpc>
            </a:pPr>
            <a:r>
              <a:rPr sz="1500" b="0" i="0">
                <a:solidFill>
                  <a:srgbClr val="1B1F29"/>
                </a:solidFill>
                <a:latin typeface="Helvetica Neue"/>
              </a:rPr>
              <a:t>2026 fund finance is shifting toward NAV and hybrid facilities — and the next underwriting bottleneck is sector-specific risk modelling on concentrated portfolios.</a:t>
            </a:r>
          </a:p>
        </p:txBody>
      </p:sp>
      <p:sp>
        <p:nvSpPr>
          <p:cNvPr id="12" name="Rectangle 11"/>
          <p:cNvSpPr/>
          <p:nvPr/>
        </p:nvSpPr>
        <p:spPr>
          <a:xfrm>
            <a:off x="502920" y="3108960"/>
            <a:ext cx="731520" cy="109728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83280"/>
            <a:ext cx="731520" cy="548640"/>
          </a:xfrm>
          <a:prstGeom prst="rect">
            <a:avLst/>
          </a:prstGeom>
          <a:noFill/>
        </p:spPr>
        <p:txBody>
          <a:bodyPr wrap="square" anchor="t" lIns="0" rIns="0" tIns="0" bIns="0">
            <a:spAutoFit/>
          </a:bodyPr>
          <a:lstStyle/>
          <a:p>
            <a:pPr algn="ctr">
              <a:lnSpc>
                <a:spcPct val="115000"/>
              </a:lnSpc>
            </a:pPr>
            <a:r>
              <a:rPr sz="2400" b="1" i="0">
                <a:solidFill>
                  <a:srgbClr val="FFFFFF"/>
                </a:solidFill>
                <a:latin typeface="Helvetica Neue"/>
              </a:rPr>
              <a:t>02</a:t>
            </a:r>
          </a:p>
        </p:txBody>
      </p:sp>
      <p:sp>
        <p:nvSpPr>
          <p:cNvPr id="14" name="TextBox 13"/>
          <p:cNvSpPr txBox="1"/>
          <p:nvPr/>
        </p:nvSpPr>
        <p:spPr>
          <a:xfrm>
            <a:off x="1554480" y="3200400"/>
            <a:ext cx="10058400" cy="1005840"/>
          </a:xfrm>
          <a:prstGeom prst="rect">
            <a:avLst/>
          </a:prstGeom>
          <a:noFill/>
        </p:spPr>
        <p:txBody>
          <a:bodyPr wrap="square" anchor="t" lIns="0" rIns="0" tIns="0" bIns="0">
            <a:spAutoFit/>
          </a:bodyPr>
          <a:lstStyle/>
          <a:p>
            <a:pPr algn="l">
              <a:lnSpc>
                <a:spcPct val="130000"/>
              </a:lnSpc>
            </a:pPr>
            <a:r>
              <a:rPr sz="1500" b="0" i="0">
                <a:solidFill>
                  <a:srgbClr val="1B1F29"/>
                </a:solidFill>
                <a:latin typeface="Helvetica Neue"/>
              </a:rPr>
              <a:t>“Power electronics” is internally heterogeneous. EV powertrain, data-center power, renewables and industrial drives behave like four different credits — listed comparables in 2024–26 ranged from −75% to +280%.</a:t>
            </a:r>
          </a:p>
        </p:txBody>
      </p:sp>
      <p:sp>
        <p:nvSpPr>
          <p:cNvPr id="15" name="Rectangle 14"/>
          <p:cNvSpPr/>
          <p:nvPr/>
        </p:nvSpPr>
        <p:spPr>
          <a:xfrm>
            <a:off x="502920" y="4526280"/>
            <a:ext cx="731520" cy="109728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731520" cy="548640"/>
          </a:xfrm>
          <a:prstGeom prst="rect">
            <a:avLst/>
          </a:prstGeom>
          <a:noFill/>
        </p:spPr>
        <p:txBody>
          <a:bodyPr wrap="square" anchor="t" lIns="0" rIns="0" tIns="0" bIns="0">
            <a:spAutoFit/>
          </a:bodyPr>
          <a:lstStyle/>
          <a:p>
            <a:pPr algn="ctr">
              <a:lnSpc>
                <a:spcPct val="115000"/>
              </a:lnSpc>
            </a:pPr>
            <a:r>
              <a:rPr sz="2400" b="1" i="0">
                <a:solidFill>
                  <a:srgbClr val="FFFFFF"/>
                </a:solidFill>
                <a:latin typeface="Helvetica Neue"/>
              </a:rPr>
              <a:t>03</a:t>
            </a:r>
          </a:p>
        </p:txBody>
      </p:sp>
      <p:sp>
        <p:nvSpPr>
          <p:cNvPr id="17" name="TextBox 16"/>
          <p:cNvSpPr txBox="1"/>
          <p:nvPr/>
        </p:nvSpPr>
        <p:spPr>
          <a:xfrm>
            <a:off x="1554480" y="4617720"/>
            <a:ext cx="10058400" cy="1005840"/>
          </a:xfrm>
          <a:prstGeom prst="rect">
            <a:avLst/>
          </a:prstGeom>
          <a:noFill/>
        </p:spPr>
        <p:txBody>
          <a:bodyPr wrap="square" anchor="t" lIns="0" rIns="0" tIns="0" bIns="0">
            <a:spAutoFit/>
          </a:bodyPr>
          <a:lstStyle/>
          <a:p>
            <a:pPr algn="l">
              <a:lnSpc>
                <a:spcPct val="130000"/>
              </a:lnSpc>
            </a:pPr>
            <a:r>
              <a:rPr sz="1500" b="0" i="0">
                <a:solidFill>
                  <a:srgbClr val="1B1F29"/>
                </a:solidFill>
                <a:latin typeface="Helvetica Neue"/>
              </a:rPr>
              <a:t>A small Python sensitivity model makes the gap visible: at 50% initial LTV, EV-heavy tilts breach a 65% covenant under stress; data-center heavy tilts don't. Single-bucket haircuts can't see the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02  ·  THE 2026 SETUP</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NAV financing has moved from niche to core</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3 / 13</a:t>
            </a:r>
          </a:p>
        </p:txBody>
      </p:sp>
      <p:sp>
        <p:nvSpPr>
          <p:cNvPr id="9" name="TextBox 8"/>
          <p:cNvSpPr txBox="1"/>
          <p:nvPr/>
        </p:nvSpPr>
        <p:spPr>
          <a:xfrm>
            <a:off x="502920" y="1691640"/>
            <a:ext cx="6858000" cy="365760"/>
          </a:xfrm>
          <a:prstGeom prst="rect">
            <a:avLst/>
          </a:prstGeom>
          <a:noFill/>
        </p:spPr>
        <p:txBody>
          <a:bodyPr wrap="square" anchor="t" lIns="0" rIns="0" tIns="0" bIns="0">
            <a:spAutoFit/>
          </a:bodyPr>
          <a:lstStyle/>
          <a:p>
            <a:pPr algn="l">
              <a:lnSpc>
                <a:spcPct val="115000"/>
              </a:lnSpc>
            </a:pPr>
            <a:r>
              <a:rPr sz="1300" b="1" i="0">
                <a:solidFill>
                  <a:srgbClr val="B6142E"/>
                </a:solidFill>
                <a:latin typeface="Helvetica Neue"/>
              </a:rPr>
              <a:t>What changed</a:t>
            </a:r>
          </a:p>
        </p:txBody>
      </p:sp>
      <p:sp>
        <p:nvSpPr>
          <p:cNvPr id="10" name="TextBox 9"/>
          <p:cNvSpPr txBox="1"/>
          <p:nvPr/>
        </p:nvSpPr>
        <p:spPr>
          <a:xfrm>
            <a:off x="502920" y="2057400"/>
            <a:ext cx="6858000" cy="4114800"/>
          </a:xfrm>
          <a:prstGeom prst="rect">
            <a:avLst/>
          </a:prstGeom>
          <a:noFill/>
        </p:spPr>
        <p:txBody>
          <a:bodyPr wrap="square" anchor="t" lIns="0" rIns="0" tIns="0" bIns="0">
            <a:spAutoFit/>
          </a:bodyPr>
          <a:lstStyle/>
          <a:p/>
          <a:p>
            <a:pPr algn="l">
              <a:lnSpc>
                <a:spcPct val="135000"/>
              </a:lnSpc>
              <a:spcBef>
                <a:spcPts val="0"/>
              </a:spcBef>
            </a:pPr>
            <a:r>
              <a:rPr sz="1300" b="0" i="0">
                <a:solidFill>
                  <a:srgbClr val="1B1F29"/>
                </a:solidFill>
                <a:latin typeface="Helvetica Neue"/>
              </a:rPr>
              <a:t>NAV financing is now described by the Fund Finance Association as a "core liquidity solution across private markets" — driven by extended exit timelines and evolving LP expectations.</a:t>
            </a:r>
          </a:p>
          <a:p>
            <a:pPr algn="l">
              <a:lnSpc>
                <a:spcPct val="135000"/>
              </a:lnSpc>
              <a:spcBef>
                <a:spcPts val="1000"/>
              </a:spcBef>
            </a:pPr>
            <a:r>
              <a:rPr sz="1300" b="0" i="0">
                <a:solidFill>
                  <a:srgbClr val="1B1F29"/>
                </a:solidFill>
                <a:latin typeface="Helvetica Neue"/>
              </a:rPr>
              <a:t>Hybrid facilities (sub-line + NAV) are gaining ground specifically because they handle concentrated portfolios better than single-collateral structures.</a:t>
            </a:r>
          </a:p>
          <a:p>
            <a:pPr algn="l">
              <a:lnSpc>
                <a:spcPct val="135000"/>
              </a:lnSpc>
              <a:spcBef>
                <a:spcPts val="1000"/>
              </a:spcBef>
            </a:pPr>
            <a:r>
              <a:rPr sz="1300" b="0" i="0">
                <a:solidFill>
                  <a:srgbClr val="1B1F29"/>
                </a:solidFill>
                <a:latin typeface="Helvetica Neue"/>
              </a:rPr>
              <a:t>Ropes &amp; Gray's 2026 outlook is explicit on the growth area: "greater sector specialisation and broader adoption across geographies and asset classes."</a:t>
            </a:r>
          </a:p>
        </p:txBody>
      </p:sp>
      <p:sp>
        <p:nvSpPr>
          <p:cNvPr id="11" name="Rectangle 10"/>
          <p:cNvSpPr/>
          <p:nvPr/>
        </p:nvSpPr>
        <p:spPr>
          <a:xfrm>
            <a:off x="7772400" y="1691640"/>
            <a:ext cx="3931920" cy="41148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691640"/>
            <a:ext cx="91440" cy="411480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20240"/>
            <a:ext cx="3657600" cy="36576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THE IMPLICATION</a:t>
            </a:r>
          </a:p>
        </p:txBody>
      </p:sp>
      <p:sp>
        <p:nvSpPr>
          <p:cNvPr id="14" name="TextBox 13"/>
          <p:cNvSpPr txBox="1"/>
          <p:nvPr/>
        </p:nvSpPr>
        <p:spPr>
          <a:xfrm>
            <a:off x="8046720" y="2331720"/>
            <a:ext cx="3657600" cy="3200400"/>
          </a:xfrm>
          <a:prstGeom prst="rect">
            <a:avLst/>
          </a:prstGeom>
          <a:noFill/>
        </p:spPr>
        <p:txBody>
          <a:bodyPr wrap="square" anchor="t" lIns="0" rIns="0" tIns="0" bIns="0">
            <a:spAutoFit/>
          </a:bodyPr>
          <a:lstStyle/>
          <a:p>
            <a:pPr algn="l">
              <a:lnSpc>
                <a:spcPct val="140000"/>
              </a:lnSpc>
            </a:pPr>
            <a:r>
              <a:rPr sz="1500" b="0" i="1">
                <a:solidFill>
                  <a:srgbClr val="1B1F29"/>
                </a:solidFill>
                <a:latin typeface="Helvetica Neue"/>
              </a:rPr>
              <a:t>Lenders increasingly need underwriting capability that can read the underlying technology cycle — not just pull a sector haircut from a table.</a:t>
            </a:r>
          </a:p>
        </p:txBody>
      </p:sp>
      <p:sp>
        <p:nvSpPr>
          <p:cNvPr id="15" name="TextBox 14"/>
          <p:cNvSpPr txBox="1"/>
          <p:nvPr/>
        </p:nvSpPr>
        <p:spPr>
          <a:xfrm>
            <a:off x="502920" y="6080760"/>
            <a:ext cx="1097280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Sources: Macfarlanes (15th FFA Symposium); Ropes &amp; Gray (2026 outlook); Norton Rose Fulbright (hybrid facilities); Funds Europe (NAV financing).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03  ·  THE SECTOR ARGUMENT</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“Power electronics” is four different credits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4 / 13</a:t>
            </a:r>
          </a:p>
        </p:txBody>
      </p:sp>
      <p:sp>
        <p:nvSpPr>
          <p:cNvPr id="9" name="Rectangle 8"/>
          <p:cNvSpPr/>
          <p:nvPr/>
        </p:nvSpPr>
        <p:spPr>
          <a:xfrm>
            <a:off x="502920" y="1645920"/>
            <a:ext cx="11155680" cy="777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10607040" cy="548640"/>
          </a:xfrm>
          <a:prstGeom prst="rect">
            <a:avLst/>
          </a:prstGeom>
          <a:noFill/>
        </p:spPr>
        <p:txBody>
          <a:bodyPr wrap="square" anchor="t" lIns="0" rIns="0" tIns="0" bIns="0">
            <a:spAutoFit/>
          </a:bodyPr>
          <a:lstStyle/>
          <a:p>
            <a:pPr algn="l">
              <a:lnSpc>
                <a:spcPct val="130000"/>
              </a:lnSpc>
            </a:pPr>
            <a:r>
              <a:rPr sz="1400" b="0" i="1">
                <a:solidFill>
                  <a:srgbClr val="1B1F29"/>
                </a:solidFill>
                <a:latin typeface="Helvetica Neue"/>
              </a:rPr>
              <a:t>A NAV facility against a fund 60% concentrated in EV powertrain is a fundamentally different credit than one 60% concentrated in data-center power —</a:t>
            </a:r>
          </a:p>
        </p:txBody>
      </p:sp>
      <p:sp>
        <p:nvSpPr>
          <p:cNvPr id="11" name="TextBox 10"/>
          <p:cNvSpPr txBox="1"/>
          <p:nvPr/>
        </p:nvSpPr>
        <p:spPr>
          <a:xfrm>
            <a:off x="777240" y="2121408"/>
            <a:ext cx="10607040" cy="274320"/>
          </a:xfrm>
          <a:prstGeom prst="rect">
            <a:avLst/>
          </a:prstGeom>
          <a:noFill/>
        </p:spPr>
        <p:txBody>
          <a:bodyPr wrap="square" anchor="t" lIns="0" rIns="0" tIns="0" bIns="0">
            <a:spAutoFit/>
          </a:bodyPr>
          <a:lstStyle/>
          <a:p>
            <a:pPr algn="l">
              <a:lnSpc>
                <a:spcPct val="115000"/>
              </a:lnSpc>
            </a:pPr>
            <a:r>
              <a:rPr sz="1400" b="0" i="1">
                <a:solidFill>
                  <a:srgbClr val="1B1F29"/>
                </a:solidFill>
                <a:latin typeface="Helvetica Neue"/>
              </a:rPr>
              <a:t>even though both fall under the same investment-policy category.</a:t>
            </a:r>
          </a:p>
        </p:txBody>
      </p:sp>
      <p:sp>
        <p:nvSpPr>
          <p:cNvPr id="12" name="TextBox 11"/>
          <p:cNvSpPr txBox="1"/>
          <p:nvPr/>
        </p:nvSpPr>
        <p:spPr>
          <a:xfrm>
            <a:off x="502920" y="2697480"/>
            <a:ext cx="310896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SUB-SECTOR</a:t>
            </a:r>
          </a:p>
        </p:txBody>
      </p:sp>
      <p:sp>
        <p:nvSpPr>
          <p:cNvPr id="13" name="TextBox 12"/>
          <p:cNvSpPr txBox="1"/>
          <p:nvPr/>
        </p:nvSpPr>
        <p:spPr>
          <a:xfrm>
            <a:off x="3611880" y="2697480"/>
            <a:ext cx="27432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DEMAND DRIVER</a:t>
            </a:r>
          </a:p>
        </p:txBody>
      </p:sp>
      <p:sp>
        <p:nvSpPr>
          <p:cNvPr id="14" name="TextBox 13"/>
          <p:cNvSpPr txBox="1"/>
          <p:nvPr/>
        </p:nvSpPr>
        <p:spPr>
          <a:xfrm>
            <a:off x="6355080" y="2697480"/>
            <a:ext cx="22860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CYCLICALITY</a:t>
            </a:r>
          </a:p>
        </p:txBody>
      </p:sp>
      <p:sp>
        <p:nvSpPr>
          <p:cNvPr id="15" name="TextBox 14"/>
          <p:cNvSpPr txBox="1"/>
          <p:nvPr/>
        </p:nvSpPr>
        <p:spPr>
          <a:xfrm>
            <a:off x="8641080" y="2697480"/>
            <a:ext cx="301752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CUSTOMER CONCENTRATION</a:t>
            </a:r>
          </a:p>
        </p:txBody>
      </p:sp>
      <p:cxnSp>
        <p:nvCxnSpPr>
          <p:cNvPr id="16" name="Connector 15"/>
          <p:cNvCxnSpPr/>
          <p:nvPr/>
        </p:nvCxnSpPr>
        <p:spPr>
          <a:xfrm>
            <a:off x="502920" y="3026664"/>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02920" y="3108960"/>
            <a:ext cx="11183112" cy="502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15468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EV powertrain</a:t>
            </a:r>
          </a:p>
        </p:txBody>
      </p:sp>
      <p:sp>
        <p:nvSpPr>
          <p:cNvPr id="19" name="TextBox 18"/>
          <p:cNvSpPr txBox="1"/>
          <p:nvPr/>
        </p:nvSpPr>
        <p:spPr>
          <a:xfrm>
            <a:off x="3611880" y="315468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Consumer auto cycle</a:t>
            </a:r>
          </a:p>
        </p:txBody>
      </p:sp>
      <p:sp>
        <p:nvSpPr>
          <p:cNvPr id="20" name="TextBox 19"/>
          <p:cNvSpPr txBox="1"/>
          <p:nvPr/>
        </p:nvSpPr>
        <p:spPr>
          <a:xfrm>
            <a:off x="6355080" y="315468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High, consumer-led</a:t>
            </a:r>
          </a:p>
        </p:txBody>
      </p:sp>
      <p:sp>
        <p:nvSpPr>
          <p:cNvPr id="21" name="TextBox 20"/>
          <p:cNvSpPr txBox="1"/>
          <p:nvPr/>
        </p:nvSpPr>
        <p:spPr>
          <a:xfrm>
            <a:off x="8641080" y="315468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5–10 OEM buyers</a:t>
            </a:r>
          </a:p>
        </p:txBody>
      </p:sp>
      <p:sp>
        <p:nvSpPr>
          <p:cNvPr id="22" name="TextBox 21"/>
          <p:cNvSpPr txBox="1"/>
          <p:nvPr/>
        </p:nvSpPr>
        <p:spPr>
          <a:xfrm>
            <a:off x="502920" y="365760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Data-center power</a:t>
            </a:r>
          </a:p>
        </p:txBody>
      </p:sp>
      <p:sp>
        <p:nvSpPr>
          <p:cNvPr id="23" name="TextBox 22"/>
          <p:cNvSpPr txBox="1"/>
          <p:nvPr/>
        </p:nvSpPr>
        <p:spPr>
          <a:xfrm>
            <a:off x="3611880" y="365760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Hyperscaler AI capex</a:t>
            </a:r>
          </a:p>
        </p:txBody>
      </p:sp>
      <p:sp>
        <p:nvSpPr>
          <p:cNvPr id="24" name="TextBox 23"/>
          <p:cNvSpPr txBox="1"/>
          <p:nvPr/>
        </p:nvSpPr>
        <p:spPr>
          <a:xfrm>
            <a:off x="6355080" y="365760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Lumpy super-cycle</a:t>
            </a:r>
          </a:p>
        </p:txBody>
      </p:sp>
      <p:sp>
        <p:nvSpPr>
          <p:cNvPr id="25" name="TextBox 24"/>
          <p:cNvSpPr txBox="1"/>
          <p:nvPr/>
        </p:nvSpPr>
        <p:spPr>
          <a:xfrm>
            <a:off x="8641080" y="365760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3–5 hyperscalers</a:t>
            </a:r>
          </a:p>
        </p:txBody>
      </p:sp>
      <p:sp>
        <p:nvSpPr>
          <p:cNvPr id="26" name="Rectangle 25"/>
          <p:cNvSpPr/>
          <p:nvPr/>
        </p:nvSpPr>
        <p:spPr>
          <a:xfrm>
            <a:off x="502920" y="4114800"/>
            <a:ext cx="11183112" cy="502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16052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Renewable power conv.</a:t>
            </a:r>
          </a:p>
        </p:txBody>
      </p:sp>
      <p:sp>
        <p:nvSpPr>
          <p:cNvPr id="28" name="TextBox 27"/>
          <p:cNvSpPr txBox="1"/>
          <p:nvPr/>
        </p:nvSpPr>
        <p:spPr>
          <a:xfrm>
            <a:off x="3611880" y="416052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Subsidy + tariff regime</a:t>
            </a:r>
          </a:p>
        </p:txBody>
      </p:sp>
      <p:sp>
        <p:nvSpPr>
          <p:cNvPr id="29" name="TextBox 28"/>
          <p:cNvSpPr txBox="1"/>
          <p:nvPr/>
        </p:nvSpPr>
        <p:spPr>
          <a:xfrm>
            <a:off x="6355080" y="416052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Policy-driven</a:t>
            </a:r>
          </a:p>
        </p:txBody>
      </p:sp>
      <p:sp>
        <p:nvSpPr>
          <p:cNvPr id="30" name="TextBox 29"/>
          <p:cNvSpPr txBox="1"/>
          <p:nvPr/>
        </p:nvSpPr>
        <p:spPr>
          <a:xfrm>
            <a:off x="8641080" y="416052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Utilities + EPCs</a:t>
            </a:r>
          </a:p>
        </p:txBody>
      </p:sp>
      <p:sp>
        <p:nvSpPr>
          <p:cNvPr id="31" name="TextBox 30"/>
          <p:cNvSpPr txBox="1"/>
          <p:nvPr/>
        </p:nvSpPr>
        <p:spPr>
          <a:xfrm>
            <a:off x="502920" y="466344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Industrial drives</a:t>
            </a:r>
          </a:p>
        </p:txBody>
      </p:sp>
      <p:sp>
        <p:nvSpPr>
          <p:cNvPr id="32" name="TextBox 31"/>
          <p:cNvSpPr txBox="1"/>
          <p:nvPr/>
        </p:nvSpPr>
        <p:spPr>
          <a:xfrm>
            <a:off x="3611880" y="466344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Industrial CapEx / IIoT</a:t>
            </a:r>
          </a:p>
        </p:txBody>
      </p:sp>
      <p:sp>
        <p:nvSpPr>
          <p:cNvPr id="33" name="TextBox 32"/>
          <p:cNvSpPr txBox="1"/>
          <p:nvPr/>
        </p:nvSpPr>
        <p:spPr>
          <a:xfrm>
            <a:off x="6355080" y="466344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Mid-cycle, defensive</a:t>
            </a:r>
          </a:p>
        </p:txBody>
      </p:sp>
      <p:sp>
        <p:nvSpPr>
          <p:cNvPr id="34" name="TextBox 33"/>
          <p:cNvSpPr txBox="1"/>
          <p:nvPr/>
        </p:nvSpPr>
        <p:spPr>
          <a:xfrm>
            <a:off x="8641080" y="466344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Fragmented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03  ·  THE SECTOR ARGUMENT (CONT.)</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Sub-sectors on the axes that drive NAV facility risk</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5 / 13</a:t>
            </a:r>
          </a:p>
        </p:txBody>
      </p:sp>
      <p:pic>
        <p:nvPicPr>
          <p:cNvPr id="9" name="Picture 8" descr="sector_matrix.png"/>
          <p:cNvPicPr>
            <a:picLocks noChangeAspect="1"/>
          </p:cNvPicPr>
          <p:nvPr/>
        </p:nvPicPr>
        <p:blipFill>
          <a:blip r:embed="rId2"/>
          <a:stretch>
            <a:fillRect/>
          </a:stretch>
        </p:blipFill>
        <p:spPr>
          <a:xfrm>
            <a:off x="3840480" y="1600200"/>
            <a:ext cx="6249483" cy="4663440"/>
          </a:xfrm>
          <a:prstGeom prst="rect">
            <a:avLst/>
          </a:prstGeom>
        </p:spPr>
      </p:pic>
      <p:sp>
        <p:nvSpPr>
          <p:cNvPr id="10" name="TextBox 9"/>
          <p:cNvSpPr txBox="1"/>
          <p:nvPr/>
        </p:nvSpPr>
        <p:spPr>
          <a:xfrm>
            <a:off x="502920" y="1691640"/>
            <a:ext cx="32004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HOW TO READ</a:t>
            </a:r>
          </a:p>
        </p:txBody>
      </p:sp>
      <p:sp>
        <p:nvSpPr>
          <p:cNvPr id="11" name="TextBox 10"/>
          <p:cNvSpPr txBox="1"/>
          <p:nvPr/>
        </p:nvSpPr>
        <p:spPr>
          <a:xfrm>
            <a:off x="502920" y="2011680"/>
            <a:ext cx="3200400" cy="411480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0"/>
              </a:spcBef>
            </a:pPr>
            <a:r>
              <a:rPr sz="1100" b="0" i="0">
                <a:solidFill>
                  <a:srgbClr val="1B1F29"/>
                </a:solidFill>
                <a:latin typeface="Helvetica Neue"/>
              </a:rPr>
              <a:t>X-axis: demand cyclicality. Defensive (left) → highly cyclical (right).</a:t>
            </a:r>
          </a:p>
          <a:p>
            <a:pPr algn="l">
              <a:lnSpc>
                <a:spcPct val="130000"/>
              </a:lnSpc>
              <a:spcBef>
                <a:spcPts val="1000"/>
              </a:spcBef>
            </a:pPr>
            <a:r>
              <a:rPr sz="1100" b="0" i="0">
                <a:solidFill>
                  <a:srgbClr val="1B1F29"/>
                </a:solidFill>
                <a:latin typeface="Helvetica Neue"/>
              </a:rPr>
              <a:t>Y-axis: customer concentration. Fragmented (bottom) → top-3 buyers &gt;70% of revenue (top).</a:t>
            </a:r>
          </a:p>
          <a:p>
            <a:pPr algn="l">
              <a:lnSpc>
                <a:spcPct val="130000"/>
              </a:lnSpc>
              <a:spcBef>
                <a:spcPts val="1000"/>
              </a:spcBef>
            </a:pPr>
            <a:r>
              <a:rPr sz="1100" b="0" i="0">
                <a:solidFill>
                  <a:srgbClr val="1B1F29"/>
                </a:solidFill>
                <a:latin typeface="Helvetica Neue"/>
              </a:rPr>
              <a:t>Bubble size: 2024–26 listed-comparable total-return dispersion (proxy for implied vol of private valuations).</a:t>
            </a:r>
          </a:p>
          <a:p>
            <a:pPr algn="l">
              <a:lnSpc>
                <a:spcPct val="130000"/>
              </a:lnSpc>
              <a:spcBef>
                <a:spcPts val="1400"/>
              </a:spcBef>
            </a:pPr>
            <a:r>
              <a:rPr sz="1100" b="1" i="0">
                <a:solidFill>
                  <a:srgbClr val="A81B1B"/>
                </a:solidFill>
                <a:latin typeface="Helvetica Neue"/>
              </a:rPr>
              <a:t>EV powertrain sits in the worst quadrant — cyclical AND concentrated. It is the underwriting risk most likely to be mispriced under a single-sector haircut.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04  ·  EMPIRICAL REALITY CHECK</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2024–2026 listed comparables: a 350-point spread</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6 / 13</a:t>
            </a:r>
          </a:p>
        </p:txBody>
      </p:sp>
      <p:sp>
        <p:nvSpPr>
          <p:cNvPr id="9" name="TextBox 8"/>
          <p:cNvSpPr txBox="1"/>
          <p:nvPr/>
        </p:nvSpPr>
        <p:spPr>
          <a:xfrm>
            <a:off x="502920" y="1783080"/>
            <a:ext cx="32004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LISTED COMPARABLE</a:t>
            </a:r>
          </a:p>
        </p:txBody>
      </p:sp>
      <p:sp>
        <p:nvSpPr>
          <p:cNvPr id="10" name="TextBox 9"/>
          <p:cNvSpPr txBox="1"/>
          <p:nvPr/>
        </p:nvSpPr>
        <p:spPr>
          <a:xfrm>
            <a:off x="3840480" y="1783080"/>
            <a:ext cx="50292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SUB-SECTOR</a:t>
            </a:r>
          </a:p>
        </p:txBody>
      </p:sp>
      <p:sp>
        <p:nvSpPr>
          <p:cNvPr id="11" name="TextBox 10"/>
          <p:cNvSpPr txBox="1"/>
          <p:nvPr/>
        </p:nvSpPr>
        <p:spPr>
          <a:xfrm>
            <a:off x="9144000" y="1783080"/>
            <a:ext cx="246888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2024–26 RETURN</a:t>
            </a:r>
          </a:p>
        </p:txBody>
      </p:sp>
      <p:cxnSp>
        <p:nvCxnSpPr>
          <p:cNvPr id="12" name="Connector 11"/>
          <p:cNvCxnSpPr/>
          <p:nvPr/>
        </p:nvCxnSpPr>
        <p:spPr>
          <a:xfrm>
            <a:off x="502920" y="2112264"/>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02920" y="2194560"/>
            <a:ext cx="11183112" cy="457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2402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Wolfspeed</a:t>
            </a:r>
          </a:p>
        </p:txBody>
      </p:sp>
      <p:sp>
        <p:nvSpPr>
          <p:cNvPr id="15" name="TextBox 14"/>
          <p:cNvSpPr txBox="1"/>
          <p:nvPr/>
        </p:nvSpPr>
        <p:spPr>
          <a:xfrm>
            <a:off x="3840480" y="22402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EV powertrain (SiC)</a:t>
            </a:r>
          </a:p>
        </p:txBody>
      </p:sp>
      <p:sp>
        <p:nvSpPr>
          <p:cNvPr id="16" name="TextBox 15"/>
          <p:cNvSpPr txBox="1"/>
          <p:nvPr/>
        </p:nvSpPr>
        <p:spPr>
          <a:xfrm>
            <a:off x="9144000" y="2240280"/>
            <a:ext cx="246888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 −70%</a:t>
            </a:r>
          </a:p>
        </p:txBody>
      </p:sp>
      <p:sp>
        <p:nvSpPr>
          <p:cNvPr id="17" name="TextBox 16"/>
          <p:cNvSpPr txBox="1"/>
          <p:nvPr/>
        </p:nvSpPr>
        <p:spPr>
          <a:xfrm>
            <a:off x="502920" y="26974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ON Semiconductor</a:t>
            </a:r>
          </a:p>
        </p:txBody>
      </p:sp>
      <p:sp>
        <p:nvSpPr>
          <p:cNvPr id="18" name="TextBox 17"/>
          <p:cNvSpPr txBox="1"/>
          <p:nvPr/>
        </p:nvSpPr>
        <p:spPr>
          <a:xfrm>
            <a:off x="3840480" y="26974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EV powertrain</a:t>
            </a:r>
          </a:p>
        </p:txBody>
      </p:sp>
      <p:sp>
        <p:nvSpPr>
          <p:cNvPr id="19" name="TextBox 18"/>
          <p:cNvSpPr txBox="1"/>
          <p:nvPr/>
        </p:nvSpPr>
        <p:spPr>
          <a:xfrm>
            <a:off x="9144000" y="2697480"/>
            <a:ext cx="246888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 −40%</a:t>
            </a:r>
          </a:p>
        </p:txBody>
      </p:sp>
      <p:sp>
        <p:nvSpPr>
          <p:cNvPr id="20" name="Rectangle 19"/>
          <p:cNvSpPr/>
          <p:nvPr/>
        </p:nvSpPr>
        <p:spPr>
          <a:xfrm>
            <a:off x="502920" y="3108960"/>
            <a:ext cx="11183112" cy="457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1546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Vertiv Holdings</a:t>
            </a:r>
          </a:p>
        </p:txBody>
      </p:sp>
      <p:sp>
        <p:nvSpPr>
          <p:cNvPr id="22" name="TextBox 21"/>
          <p:cNvSpPr txBox="1"/>
          <p:nvPr/>
        </p:nvSpPr>
        <p:spPr>
          <a:xfrm>
            <a:off x="3840480" y="31546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Data-center power</a:t>
            </a:r>
          </a:p>
        </p:txBody>
      </p:sp>
      <p:sp>
        <p:nvSpPr>
          <p:cNvPr id="23" name="TextBox 22"/>
          <p:cNvSpPr txBox="1"/>
          <p:nvPr/>
        </p:nvSpPr>
        <p:spPr>
          <a:xfrm>
            <a:off x="9144000" y="3154680"/>
            <a:ext cx="2468880" cy="365760"/>
          </a:xfrm>
          <a:prstGeom prst="rect">
            <a:avLst/>
          </a:prstGeom>
          <a:noFill/>
        </p:spPr>
        <p:txBody>
          <a:bodyPr wrap="square" anchor="t" lIns="0" rIns="0" tIns="0" bIns="0">
            <a:spAutoFit/>
          </a:bodyPr>
          <a:lstStyle/>
          <a:p>
            <a:pPr algn="r">
              <a:lnSpc>
                <a:spcPct val="115000"/>
              </a:lnSpc>
            </a:pPr>
            <a:r>
              <a:rPr sz="1300" b="1" i="0">
                <a:solidFill>
                  <a:srgbClr val="1F7A3C"/>
                </a:solidFill>
                <a:latin typeface="Helvetica Neue"/>
              </a:rPr>
              <a:t>≈ +280%</a:t>
            </a:r>
          </a:p>
        </p:txBody>
      </p:sp>
      <p:sp>
        <p:nvSpPr>
          <p:cNvPr id="24" name="TextBox 23"/>
          <p:cNvSpPr txBox="1"/>
          <p:nvPr/>
        </p:nvSpPr>
        <p:spPr>
          <a:xfrm>
            <a:off x="502920" y="36118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Schneider Electric</a:t>
            </a:r>
          </a:p>
        </p:txBody>
      </p:sp>
      <p:sp>
        <p:nvSpPr>
          <p:cNvPr id="25" name="TextBox 24"/>
          <p:cNvSpPr txBox="1"/>
          <p:nvPr/>
        </p:nvSpPr>
        <p:spPr>
          <a:xfrm>
            <a:off x="3840480" y="36118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Data-center power (secure power div.)</a:t>
            </a:r>
          </a:p>
        </p:txBody>
      </p:sp>
      <p:sp>
        <p:nvSpPr>
          <p:cNvPr id="26" name="TextBox 25"/>
          <p:cNvSpPr txBox="1"/>
          <p:nvPr/>
        </p:nvSpPr>
        <p:spPr>
          <a:xfrm>
            <a:off x="9144000" y="3611880"/>
            <a:ext cx="2468880" cy="365760"/>
          </a:xfrm>
          <a:prstGeom prst="rect">
            <a:avLst/>
          </a:prstGeom>
          <a:noFill/>
        </p:spPr>
        <p:txBody>
          <a:bodyPr wrap="square" anchor="t" lIns="0" rIns="0" tIns="0" bIns="0">
            <a:spAutoFit/>
          </a:bodyPr>
          <a:lstStyle/>
          <a:p>
            <a:pPr algn="r">
              <a:lnSpc>
                <a:spcPct val="115000"/>
              </a:lnSpc>
            </a:pPr>
            <a:r>
              <a:rPr sz="1300" b="1" i="0">
                <a:solidFill>
                  <a:srgbClr val="1F7A3C"/>
                </a:solidFill>
                <a:latin typeface="Helvetica Neue"/>
              </a:rPr>
              <a:t>≈ +60%</a:t>
            </a:r>
          </a:p>
        </p:txBody>
      </p:sp>
      <p:sp>
        <p:nvSpPr>
          <p:cNvPr id="27" name="Rectangle 26"/>
          <p:cNvSpPr/>
          <p:nvPr/>
        </p:nvSpPr>
        <p:spPr>
          <a:xfrm>
            <a:off x="502920" y="4023360"/>
            <a:ext cx="11183112" cy="457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0690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Enphase Energy</a:t>
            </a:r>
          </a:p>
        </p:txBody>
      </p:sp>
      <p:sp>
        <p:nvSpPr>
          <p:cNvPr id="29" name="TextBox 28"/>
          <p:cNvSpPr txBox="1"/>
          <p:nvPr/>
        </p:nvSpPr>
        <p:spPr>
          <a:xfrm>
            <a:off x="3840480" y="40690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Renewable power conv.</a:t>
            </a:r>
          </a:p>
        </p:txBody>
      </p:sp>
      <p:sp>
        <p:nvSpPr>
          <p:cNvPr id="30" name="TextBox 29"/>
          <p:cNvSpPr txBox="1"/>
          <p:nvPr/>
        </p:nvSpPr>
        <p:spPr>
          <a:xfrm>
            <a:off x="9144000" y="4069080"/>
            <a:ext cx="246888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 −75%</a:t>
            </a:r>
          </a:p>
        </p:txBody>
      </p:sp>
      <p:sp>
        <p:nvSpPr>
          <p:cNvPr id="31" name="TextBox 30"/>
          <p:cNvSpPr txBox="1"/>
          <p:nvPr/>
        </p:nvSpPr>
        <p:spPr>
          <a:xfrm>
            <a:off x="502920" y="45262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ABB</a:t>
            </a:r>
          </a:p>
        </p:txBody>
      </p:sp>
      <p:sp>
        <p:nvSpPr>
          <p:cNvPr id="32" name="TextBox 31"/>
          <p:cNvSpPr txBox="1"/>
          <p:nvPr/>
        </p:nvSpPr>
        <p:spPr>
          <a:xfrm>
            <a:off x="3840480" y="45262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Industrial drives</a:t>
            </a:r>
          </a:p>
        </p:txBody>
      </p:sp>
      <p:sp>
        <p:nvSpPr>
          <p:cNvPr id="33" name="TextBox 32"/>
          <p:cNvSpPr txBox="1"/>
          <p:nvPr/>
        </p:nvSpPr>
        <p:spPr>
          <a:xfrm>
            <a:off x="9144000" y="4526280"/>
            <a:ext cx="2468880" cy="365760"/>
          </a:xfrm>
          <a:prstGeom prst="rect">
            <a:avLst/>
          </a:prstGeom>
          <a:noFill/>
        </p:spPr>
        <p:txBody>
          <a:bodyPr wrap="square" anchor="t" lIns="0" rIns="0" tIns="0" bIns="0">
            <a:spAutoFit/>
          </a:bodyPr>
          <a:lstStyle/>
          <a:p>
            <a:pPr algn="r">
              <a:lnSpc>
                <a:spcPct val="115000"/>
              </a:lnSpc>
            </a:pPr>
            <a:r>
              <a:rPr sz="1300" b="1" i="0">
                <a:solidFill>
                  <a:srgbClr val="1F7A3C"/>
                </a:solidFill>
                <a:latin typeface="Helvetica Neue"/>
              </a:rPr>
              <a:t>≈ +25%</a:t>
            </a:r>
          </a:p>
        </p:txBody>
      </p:sp>
      <p:sp>
        <p:nvSpPr>
          <p:cNvPr id="34" name="Rectangle 33"/>
          <p:cNvSpPr/>
          <p:nvPr/>
        </p:nvSpPr>
        <p:spPr>
          <a:xfrm>
            <a:off x="502920" y="5349240"/>
            <a:ext cx="11155680" cy="8229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5349240"/>
            <a:ext cx="91440" cy="8229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477256"/>
            <a:ext cx="10698480" cy="640080"/>
          </a:xfrm>
          <a:prstGeom prst="rect">
            <a:avLst/>
          </a:prstGeom>
          <a:noFill/>
        </p:spPr>
        <p:txBody>
          <a:bodyPr wrap="square" anchor="t" lIns="0" rIns="0" tIns="0" bIns="0">
            <a:spAutoFit/>
          </a:bodyPr>
          <a:lstStyle/>
          <a:p>
            <a:pPr algn="l">
              <a:lnSpc>
                <a:spcPct val="135000"/>
              </a:lnSpc>
            </a:pPr>
            <a:r>
              <a:rPr sz="1300" b="0" i="1">
                <a:solidFill>
                  <a:srgbClr val="1B1F29"/>
                </a:solidFill>
                <a:latin typeface="Helvetica Neue"/>
              </a:rPr>
              <a:t>The dispersion is the point. Two listed names labelled “power electronics” returned −75% and +280% in the same window — a 350-point gap. Any underwriting model that aggregates them is, by construction, blind.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05  ·  THE MODEL</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Sensitivity setup: same fund, two facility regimes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7 / 13</a:t>
            </a:r>
          </a:p>
        </p:txBody>
      </p:sp>
      <p:sp>
        <p:nvSpPr>
          <p:cNvPr id="9" name="Rectangle 8"/>
          <p:cNvSpPr/>
          <p:nvPr/>
        </p:nvSpPr>
        <p:spPr>
          <a:xfrm>
            <a:off x="502920" y="1691640"/>
            <a:ext cx="5669280" cy="1920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91440" cy="1920240"/>
          </a:xfrm>
          <a:prstGeom prst="rect">
            <a:avLst/>
          </a:prstGeom>
          <a:solidFill>
            <a:srgbClr val="1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28800"/>
            <a:ext cx="5029200" cy="274320"/>
          </a:xfrm>
          <a:prstGeom prst="rect">
            <a:avLst/>
          </a:prstGeom>
          <a:noFill/>
        </p:spPr>
        <p:txBody>
          <a:bodyPr wrap="square" anchor="t" lIns="0" rIns="0" tIns="0" bIns="0">
            <a:spAutoFit/>
          </a:bodyPr>
          <a:lstStyle/>
          <a:p>
            <a:pPr algn="l">
              <a:lnSpc>
                <a:spcPct val="115000"/>
              </a:lnSpc>
            </a:pPr>
            <a:r>
              <a:rPr sz="1000" b="1" i="0">
                <a:solidFill>
                  <a:srgbClr val="1F7A3C"/>
                </a:solidFill>
                <a:latin typeface="Helvetica Neue"/>
              </a:rPr>
              <a:t>BENIGN</a:t>
            </a:r>
          </a:p>
        </p:txBody>
      </p:sp>
      <p:sp>
        <p:nvSpPr>
          <p:cNvPr id="12" name="TextBox 11"/>
          <p:cNvSpPr txBox="1"/>
          <p:nvPr/>
        </p:nvSpPr>
        <p:spPr>
          <a:xfrm>
            <a:off x="777240" y="2103120"/>
            <a:ext cx="5029200" cy="457200"/>
          </a:xfrm>
          <a:prstGeom prst="rect">
            <a:avLst/>
          </a:prstGeom>
          <a:noFill/>
        </p:spPr>
        <p:txBody>
          <a:bodyPr wrap="square" anchor="t" lIns="0" rIns="0" tIns="0" bIns="0">
            <a:spAutoFit/>
          </a:bodyPr>
          <a:lstStyle/>
          <a:p>
            <a:pPr algn="l">
              <a:lnSpc>
                <a:spcPct val="115000"/>
              </a:lnSpc>
            </a:pPr>
            <a:r>
              <a:rPr sz="1800" b="1" i="0">
                <a:solidFill>
                  <a:srgbClr val="1B1F29"/>
                </a:solidFill>
                <a:latin typeface="Helvetica Neue"/>
              </a:rPr>
              <a:t>Initial LTV 30%</a:t>
            </a:r>
          </a:p>
        </p:txBody>
      </p:sp>
      <p:sp>
        <p:nvSpPr>
          <p:cNvPr id="13" name="TextBox 12"/>
          <p:cNvSpPr txBox="1"/>
          <p:nvPr/>
        </p:nvSpPr>
        <p:spPr>
          <a:xfrm>
            <a:off x="777240" y="2606040"/>
            <a:ext cx="5029200" cy="109728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400"/>
              </a:spcBef>
              <a:buChar char="•"/>
              <a:buFont typeface="Helvetica Neue"/>
            </a:pPr>
            <a:r>
              <a:rPr sz="1200" b="0" i="0">
                <a:solidFill>
                  <a:srgbClr val="1B1F29"/>
                </a:solidFill>
                <a:latin typeface="Helvetica Neue"/>
              </a:rPr>
              <a:t>  NAV USD 500M</a:t>
            </a:r>
          </a:p>
          <a:p>
            <a:pPr algn="l">
              <a:lnSpc>
                <a:spcPct val="130000"/>
              </a:lnSpc>
              <a:spcBef>
                <a:spcPts val="400"/>
              </a:spcBef>
              <a:buChar char="•"/>
              <a:buFont typeface="Helvetica Neue"/>
            </a:pPr>
            <a:r>
              <a:rPr sz="1200" b="0" i="0">
                <a:solidFill>
                  <a:srgbClr val="1B1F29"/>
                </a:solidFill>
                <a:latin typeface="Helvetica Neue"/>
              </a:rPr>
              <a:t>  Facility USD 150M</a:t>
            </a:r>
          </a:p>
          <a:p>
            <a:pPr algn="l">
              <a:lnSpc>
                <a:spcPct val="130000"/>
              </a:lnSpc>
              <a:spcBef>
                <a:spcPts val="400"/>
              </a:spcBef>
              <a:buChar char="•"/>
              <a:buFont typeface="Helvetica Neue"/>
            </a:pPr>
            <a:r>
              <a:rPr sz="1200" b="0" i="0">
                <a:solidFill>
                  <a:srgbClr val="1B1F29"/>
                </a:solidFill>
                <a:latin typeface="Helvetica Neue"/>
              </a:rPr>
              <a:t>  Covenant LTV 65%</a:t>
            </a:r>
          </a:p>
        </p:txBody>
      </p:sp>
      <p:sp>
        <p:nvSpPr>
          <p:cNvPr id="14" name="Rectangle 13"/>
          <p:cNvSpPr/>
          <p:nvPr/>
        </p:nvSpPr>
        <p:spPr>
          <a:xfrm>
            <a:off x="6446520" y="1691640"/>
            <a:ext cx="5669280" cy="1920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20" y="1691640"/>
            <a:ext cx="91440" cy="1920240"/>
          </a:xfrm>
          <a:prstGeom prst="rect">
            <a:avLst/>
          </a:prstGeom>
          <a:solidFill>
            <a:srgbClr val="A8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1828800"/>
            <a:ext cx="5029200" cy="274320"/>
          </a:xfrm>
          <a:prstGeom prst="rect">
            <a:avLst/>
          </a:prstGeom>
          <a:noFill/>
        </p:spPr>
        <p:txBody>
          <a:bodyPr wrap="square" anchor="t" lIns="0" rIns="0" tIns="0" bIns="0">
            <a:spAutoFit/>
          </a:bodyPr>
          <a:lstStyle/>
          <a:p>
            <a:pPr algn="l">
              <a:lnSpc>
                <a:spcPct val="115000"/>
              </a:lnSpc>
            </a:pPr>
            <a:r>
              <a:rPr sz="1000" b="1" i="0">
                <a:solidFill>
                  <a:srgbClr val="A81B1B"/>
                </a:solidFill>
                <a:latin typeface="Helvetica Neue"/>
              </a:rPr>
              <a:t>AGGRESSIVE</a:t>
            </a:r>
          </a:p>
        </p:txBody>
      </p:sp>
      <p:sp>
        <p:nvSpPr>
          <p:cNvPr id="17" name="TextBox 16"/>
          <p:cNvSpPr txBox="1"/>
          <p:nvPr/>
        </p:nvSpPr>
        <p:spPr>
          <a:xfrm>
            <a:off x="6720840" y="2103120"/>
            <a:ext cx="5029200" cy="457200"/>
          </a:xfrm>
          <a:prstGeom prst="rect">
            <a:avLst/>
          </a:prstGeom>
          <a:noFill/>
        </p:spPr>
        <p:txBody>
          <a:bodyPr wrap="square" anchor="t" lIns="0" rIns="0" tIns="0" bIns="0">
            <a:spAutoFit/>
          </a:bodyPr>
          <a:lstStyle/>
          <a:p>
            <a:pPr algn="l">
              <a:lnSpc>
                <a:spcPct val="115000"/>
              </a:lnSpc>
            </a:pPr>
            <a:r>
              <a:rPr sz="1800" b="1" i="0">
                <a:solidFill>
                  <a:srgbClr val="1B1F29"/>
                </a:solidFill>
                <a:latin typeface="Helvetica Neue"/>
              </a:rPr>
              <a:t>Initial LTV 50%</a:t>
            </a:r>
          </a:p>
        </p:txBody>
      </p:sp>
      <p:sp>
        <p:nvSpPr>
          <p:cNvPr id="18" name="TextBox 17"/>
          <p:cNvSpPr txBox="1"/>
          <p:nvPr/>
        </p:nvSpPr>
        <p:spPr>
          <a:xfrm>
            <a:off x="6720840" y="2606040"/>
            <a:ext cx="5029200" cy="109728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400"/>
              </a:spcBef>
              <a:buChar char="•"/>
              <a:buFont typeface="Helvetica Neue"/>
            </a:pPr>
            <a:r>
              <a:rPr sz="1200" b="0" i="0">
                <a:solidFill>
                  <a:srgbClr val="1B1F29"/>
                </a:solidFill>
                <a:latin typeface="Helvetica Neue"/>
              </a:rPr>
              <a:t>  NAV USD 500M</a:t>
            </a:r>
          </a:p>
          <a:p>
            <a:pPr algn="l">
              <a:lnSpc>
                <a:spcPct val="130000"/>
              </a:lnSpc>
              <a:spcBef>
                <a:spcPts val="400"/>
              </a:spcBef>
              <a:buChar char="•"/>
              <a:buFont typeface="Helvetica Neue"/>
            </a:pPr>
            <a:r>
              <a:rPr sz="1200" b="0" i="0">
                <a:solidFill>
                  <a:srgbClr val="1B1F29"/>
                </a:solidFill>
                <a:latin typeface="Helvetica Neue"/>
              </a:rPr>
              <a:t>  Facility USD 250M</a:t>
            </a:r>
          </a:p>
          <a:p>
            <a:pPr algn="l">
              <a:lnSpc>
                <a:spcPct val="130000"/>
              </a:lnSpc>
              <a:spcBef>
                <a:spcPts val="400"/>
              </a:spcBef>
              <a:buChar char="•"/>
              <a:buFont typeface="Helvetica Neue"/>
            </a:pPr>
            <a:r>
              <a:rPr sz="1200" b="0" i="0">
                <a:solidFill>
                  <a:srgbClr val="1B1F29"/>
                </a:solidFill>
                <a:latin typeface="Helvetica Neue"/>
              </a:rPr>
              <a:t>  Covenant LTV 65%</a:t>
            </a:r>
          </a:p>
        </p:txBody>
      </p:sp>
      <p:sp>
        <p:nvSpPr>
          <p:cNvPr id="19" name="TextBox 18"/>
          <p:cNvSpPr txBox="1"/>
          <p:nvPr/>
        </p:nvSpPr>
        <p:spPr>
          <a:xfrm>
            <a:off x="502920" y="3840480"/>
            <a:ext cx="109728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SUB-SECTOR STRESS ASSUMPTIONS</a:t>
            </a:r>
          </a:p>
        </p:txBody>
      </p:sp>
      <p:cxnSp>
        <p:nvCxnSpPr>
          <p:cNvPr id="20" name="Connector 19"/>
          <p:cNvCxnSpPr/>
          <p:nvPr/>
        </p:nvCxnSpPr>
        <p:spPr>
          <a:xfrm>
            <a:off x="502920" y="4169663"/>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2920" y="4215384"/>
            <a:ext cx="11183112" cy="38404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251960"/>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EV powertrain</a:t>
            </a:r>
          </a:p>
        </p:txBody>
      </p:sp>
      <p:sp>
        <p:nvSpPr>
          <p:cNvPr id="23" name="TextBox 22"/>
          <p:cNvSpPr txBox="1"/>
          <p:nvPr/>
        </p:nvSpPr>
        <p:spPr>
          <a:xfrm>
            <a:off x="3108960" y="4251960"/>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−35%</a:t>
            </a:r>
          </a:p>
        </p:txBody>
      </p:sp>
      <p:sp>
        <p:nvSpPr>
          <p:cNvPr id="24" name="TextBox 23"/>
          <p:cNvSpPr txBox="1"/>
          <p:nvPr/>
        </p:nvSpPr>
        <p:spPr>
          <a:xfrm>
            <a:off x="4251960" y="4251960"/>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Calibrated to Wolfspeed / ON Semi (auto) 2024–26 drawdowns, dampened for private mark lag.</a:t>
            </a:r>
          </a:p>
        </p:txBody>
      </p:sp>
      <p:sp>
        <p:nvSpPr>
          <p:cNvPr id="25" name="TextBox 24"/>
          <p:cNvSpPr txBox="1"/>
          <p:nvPr/>
        </p:nvSpPr>
        <p:spPr>
          <a:xfrm>
            <a:off x="640080" y="4636008"/>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Data-center power</a:t>
            </a:r>
          </a:p>
        </p:txBody>
      </p:sp>
      <p:sp>
        <p:nvSpPr>
          <p:cNvPr id="26" name="TextBox 25"/>
          <p:cNvSpPr txBox="1"/>
          <p:nvPr/>
        </p:nvSpPr>
        <p:spPr>
          <a:xfrm>
            <a:off x="3108960" y="4636008"/>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−10%</a:t>
            </a:r>
          </a:p>
        </p:txBody>
      </p:sp>
      <p:sp>
        <p:nvSpPr>
          <p:cNvPr id="27" name="TextBox 26"/>
          <p:cNvSpPr txBox="1"/>
          <p:nvPr/>
        </p:nvSpPr>
        <p:spPr>
          <a:xfrm>
            <a:off x="4251960" y="4636008"/>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Mild — secular AI-capex tailwind. Vertiv / Schneider returns positive.</a:t>
            </a:r>
          </a:p>
        </p:txBody>
      </p:sp>
      <p:sp>
        <p:nvSpPr>
          <p:cNvPr id="28" name="Rectangle 27"/>
          <p:cNvSpPr/>
          <p:nvPr/>
        </p:nvSpPr>
        <p:spPr>
          <a:xfrm>
            <a:off x="502920" y="4983480"/>
            <a:ext cx="11183112" cy="38404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020056"/>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Renewable power</a:t>
            </a:r>
          </a:p>
        </p:txBody>
      </p:sp>
      <p:sp>
        <p:nvSpPr>
          <p:cNvPr id="30" name="TextBox 29"/>
          <p:cNvSpPr txBox="1"/>
          <p:nvPr/>
        </p:nvSpPr>
        <p:spPr>
          <a:xfrm>
            <a:off x="3108960" y="5020056"/>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−30%</a:t>
            </a:r>
          </a:p>
        </p:txBody>
      </p:sp>
      <p:sp>
        <p:nvSpPr>
          <p:cNvPr id="31" name="TextBox 30"/>
          <p:cNvSpPr txBox="1"/>
          <p:nvPr/>
        </p:nvSpPr>
        <p:spPr>
          <a:xfrm>
            <a:off x="4251960" y="5020056"/>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Policy + oversupply shock. Enphase / SolarEdge as anchors.</a:t>
            </a:r>
          </a:p>
        </p:txBody>
      </p:sp>
      <p:sp>
        <p:nvSpPr>
          <p:cNvPr id="32" name="TextBox 31"/>
          <p:cNvSpPr txBox="1"/>
          <p:nvPr/>
        </p:nvSpPr>
        <p:spPr>
          <a:xfrm>
            <a:off x="640080" y="5404104"/>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Industrial drives</a:t>
            </a:r>
          </a:p>
        </p:txBody>
      </p:sp>
      <p:sp>
        <p:nvSpPr>
          <p:cNvPr id="33" name="TextBox 32"/>
          <p:cNvSpPr txBox="1"/>
          <p:nvPr/>
        </p:nvSpPr>
        <p:spPr>
          <a:xfrm>
            <a:off x="3108960" y="5404104"/>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−10%</a:t>
            </a:r>
          </a:p>
        </p:txBody>
      </p:sp>
      <p:sp>
        <p:nvSpPr>
          <p:cNvPr id="34" name="TextBox 33"/>
          <p:cNvSpPr txBox="1"/>
          <p:nvPr/>
        </p:nvSpPr>
        <p:spPr>
          <a:xfrm>
            <a:off x="4251960" y="5404104"/>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Mid-cycle baseline. ABB / Rockwell range stable.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06  ·  RESULTS</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Stressed LTV — same fund, two facility regimes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8 / 13</a:t>
            </a:r>
          </a:p>
        </p:txBody>
      </p:sp>
      <p:pic>
        <p:nvPicPr>
          <p:cNvPr id="9" name="Picture 8" descr="nav_ltv_heatmap.png"/>
          <p:cNvPicPr>
            <a:picLocks noChangeAspect="1"/>
          </p:cNvPicPr>
          <p:nvPr/>
        </p:nvPicPr>
        <p:blipFill>
          <a:blip r:embed="rId2"/>
          <a:stretch>
            <a:fillRect/>
          </a:stretch>
        </p:blipFill>
        <p:spPr>
          <a:xfrm>
            <a:off x="502920" y="1600200"/>
            <a:ext cx="11155680" cy="6033852"/>
          </a:xfrm>
          <a:prstGeom prst="rect">
            <a:avLst/>
          </a:prstGeom>
        </p:spPr>
      </p:pic>
      <p:sp>
        <p:nvSpPr>
          <p:cNvPr id="10" name="TextBox 9"/>
          <p:cNvSpPr txBox="1"/>
          <p:nvPr/>
        </p:nvSpPr>
        <p:spPr>
          <a:xfrm>
            <a:off x="502920" y="598932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READ THE DASHED LINE</a:t>
            </a:r>
          </a:p>
        </p:txBody>
      </p:sp>
      <p:sp>
        <p:nvSpPr>
          <p:cNvPr id="11" name="TextBox 10"/>
          <p:cNvSpPr txBox="1"/>
          <p:nvPr/>
        </p:nvSpPr>
        <p:spPr>
          <a:xfrm>
            <a:off x="502920" y="6217920"/>
            <a:ext cx="11155680" cy="274320"/>
          </a:xfrm>
          <a:prstGeom prst="rect">
            <a:avLst/>
          </a:prstGeom>
          <a:noFill/>
        </p:spPr>
        <p:txBody>
          <a:bodyPr wrap="square" anchor="t" lIns="0" rIns="0" tIns="0" bIns="0">
            <a:spAutoFit/>
          </a:bodyPr>
          <a:lstStyle/>
          <a:p>
            <a:pPr algn="l">
              <a:lnSpc>
                <a:spcPct val="130000"/>
              </a:lnSpc>
            </a:pPr>
            <a:r>
              <a:rPr sz="1100" b="0" i="0">
                <a:solidFill>
                  <a:srgbClr val="1B1F29"/>
                </a:solidFill>
                <a:latin typeface="Helvetica Neue"/>
              </a:rPr>
              <a:t>Left: no tilt breaches the 65% covenant. Right: the covenant contour cuts the feasible region — every portfolio lower-right of the dashed line is in breach. Same fund, same shocks; only the facility size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07  ·  PUNCHLINE</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Reference portfolios — the dispersion in numbers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9 / 13</a:t>
            </a:r>
          </a:p>
        </p:txBody>
      </p:sp>
      <p:sp>
        <p:nvSpPr>
          <p:cNvPr id="9" name="TextBox 8"/>
          <p:cNvSpPr txBox="1"/>
          <p:nvPr/>
        </p:nvSpPr>
        <p:spPr>
          <a:xfrm>
            <a:off x="502920" y="1783080"/>
            <a:ext cx="3931920" cy="320040"/>
          </a:xfrm>
          <a:prstGeom prst="rect">
            <a:avLst/>
          </a:prstGeom>
          <a:noFill/>
        </p:spPr>
        <p:txBody>
          <a:bodyPr wrap="square" anchor="t" lIns="0" rIns="0" tIns="0" bIns="0">
            <a:spAutoFit/>
          </a:bodyPr>
          <a:lstStyle/>
          <a:p>
            <a:pPr algn="l">
              <a:lnSpc>
                <a:spcPct val="115000"/>
              </a:lnSpc>
            </a:pPr>
            <a:r>
              <a:rPr sz="950" b="1" i="0">
                <a:solidFill>
                  <a:srgbClr val="B6142E"/>
                </a:solidFill>
                <a:latin typeface="Helvetica Neue"/>
              </a:rPr>
              <a:t>PORTFOLIO</a:t>
            </a:r>
          </a:p>
        </p:txBody>
      </p:sp>
      <p:sp>
        <p:nvSpPr>
          <p:cNvPr id="10" name="TextBox 9"/>
          <p:cNvSpPr txBox="1"/>
          <p:nvPr/>
        </p:nvSpPr>
        <p:spPr>
          <a:xfrm>
            <a:off x="4526280" y="1783080"/>
            <a:ext cx="128016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DRAWDOWN</a:t>
            </a:r>
          </a:p>
        </p:txBody>
      </p:sp>
      <p:sp>
        <p:nvSpPr>
          <p:cNvPr id="11" name="TextBox 10"/>
          <p:cNvSpPr txBox="1"/>
          <p:nvPr/>
        </p:nvSpPr>
        <p:spPr>
          <a:xfrm>
            <a:off x="5897880" y="1783080"/>
            <a:ext cx="173736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STRESSED NAV</a:t>
            </a:r>
          </a:p>
        </p:txBody>
      </p:sp>
      <p:sp>
        <p:nvSpPr>
          <p:cNvPr id="12" name="TextBox 11"/>
          <p:cNvSpPr txBox="1"/>
          <p:nvPr/>
        </p:nvSpPr>
        <p:spPr>
          <a:xfrm>
            <a:off x="7726679" y="1783080"/>
            <a:ext cx="192024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LTV @ 30% INITIAL</a:t>
            </a:r>
          </a:p>
        </p:txBody>
      </p:sp>
      <p:sp>
        <p:nvSpPr>
          <p:cNvPr id="13" name="TextBox 12"/>
          <p:cNvSpPr txBox="1"/>
          <p:nvPr/>
        </p:nvSpPr>
        <p:spPr>
          <a:xfrm>
            <a:off x="9738360" y="1783080"/>
            <a:ext cx="192024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LTV @ 50% INITIAL</a:t>
            </a:r>
          </a:p>
        </p:txBody>
      </p:sp>
      <p:cxnSp>
        <p:nvCxnSpPr>
          <p:cNvPr id="14" name="Connector 13"/>
          <p:cNvCxnSpPr/>
          <p:nvPr/>
        </p:nvCxnSpPr>
        <p:spPr>
          <a:xfrm>
            <a:off x="502920" y="2112264"/>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 y="2194560"/>
            <a:ext cx="11183112" cy="5943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240280"/>
            <a:ext cx="3931920" cy="457200"/>
          </a:xfrm>
          <a:prstGeom prst="rect">
            <a:avLst/>
          </a:prstGeom>
          <a:noFill/>
        </p:spPr>
        <p:txBody>
          <a:bodyPr wrap="square" anchor="t" lIns="0" rIns="0" tIns="0" bIns="0">
            <a:spAutoFit/>
          </a:bodyPr>
          <a:lstStyle/>
          <a:p>
            <a:pPr algn="l">
              <a:lnSpc>
                <a:spcPct val="115000"/>
              </a:lnSpc>
            </a:pPr>
            <a:r>
              <a:rPr sz="1300" b="1" i="0">
                <a:solidFill>
                  <a:srgbClr val="1B1F29"/>
                </a:solidFill>
                <a:latin typeface="Helvetica Neue"/>
              </a:rPr>
              <a:t>100% EV powertrain</a:t>
            </a:r>
          </a:p>
        </p:txBody>
      </p:sp>
      <p:sp>
        <p:nvSpPr>
          <p:cNvPr id="17" name="TextBox 16"/>
          <p:cNvSpPr txBox="1"/>
          <p:nvPr/>
        </p:nvSpPr>
        <p:spPr>
          <a:xfrm>
            <a:off x="4526280" y="2240280"/>
            <a:ext cx="12801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−35.0%</a:t>
            </a:r>
          </a:p>
        </p:txBody>
      </p:sp>
      <p:sp>
        <p:nvSpPr>
          <p:cNvPr id="18" name="TextBox 17"/>
          <p:cNvSpPr txBox="1"/>
          <p:nvPr/>
        </p:nvSpPr>
        <p:spPr>
          <a:xfrm>
            <a:off x="5897880" y="2240280"/>
            <a:ext cx="17373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USD 325M</a:t>
            </a:r>
          </a:p>
        </p:txBody>
      </p:sp>
      <p:sp>
        <p:nvSpPr>
          <p:cNvPr id="19" name="TextBox 18"/>
          <p:cNvSpPr txBox="1"/>
          <p:nvPr/>
        </p:nvSpPr>
        <p:spPr>
          <a:xfrm>
            <a:off x="7726679" y="2240280"/>
            <a:ext cx="192024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46.2%</a:t>
            </a:r>
          </a:p>
        </p:txBody>
      </p:sp>
      <p:sp>
        <p:nvSpPr>
          <p:cNvPr id="20" name="TextBox 19"/>
          <p:cNvSpPr txBox="1"/>
          <p:nvPr/>
        </p:nvSpPr>
        <p:spPr>
          <a:xfrm>
            <a:off x="9738360" y="2240280"/>
            <a:ext cx="1920240" cy="45720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76.9%   BREACH</a:t>
            </a:r>
          </a:p>
        </p:txBody>
      </p:sp>
      <p:sp>
        <p:nvSpPr>
          <p:cNvPr id="21" name="TextBox 20"/>
          <p:cNvSpPr txBox="1"/>
          <p:nvPr/>
        </p:nvSpPr>
        <p:spPr>
          <a:xfrm>
            <a:off x="502920" y="2834640"/>
            <a:ext cx="3931920" cy="457200"/>
          </a:xfrm>
          <a:prstGeom prst="rect">
            <a:avLst/>
          </a:prstGeom>
          <a:noFill/>
        </p:spPr>
        <p:txBody>
          <a:bodyPr wrap="square" anchor="t" lIns="0" rIns="0" tIns="0" bIns="0">
            <a:spAutoFit/>
          </a:bodyPr>
          <a:lstStyle/>
          <a:p>
            <a:pPr algn="l">
              <a:lnSpc>
                <a:spcPct val="115000"/>
              </a:lnSpc>
            </a:pPr>
            <a:r>
              <a:rPr sz="1300" b="1" i="0">
                <a:solidFill>
                  <a:srgbClr val="1B1F29"/>
                </a:solidFill>
                <a:latin typeface="Helvetica Neue"/>
              </a:rPr>
              <a:t>100% data-center power</a:t>
            </a:r>
          </a:p>
        </p:txBody>
      </p:sp>
      <p:sp>
        <p:nvSpPr>
          <p:cNvPr id="22" name="TextBox 21"/>
          <p:cNvSpPr txBox="1"/>
          <p:nvPr/>
        </p:nvSpPr>
        <p:spPr>
          <a:xfrm>
            <a:off x="4526280" y="2834640"/>
            <a:ext cx="12801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−10.0%</a:t>
            </a:r>
          </a:p>
        </p:txBody>
      </p:sp>
      <p:sp>
        <p:nvSpPr>
          <p:cNvPr id="23" name="TextBox 22"/>
          <p:cNvSpPr txBox="1"/>
          <p:nvPr/>
        </p:nvSpPr>
        <p:spPr>
          <a:xfrm>
            <a:off x="5897880" y="2834640"/>
            <a:ext cx="17373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USD 450M</a:t>
            </a:r>
          </a:p>
        </p:txBody>
      </p:sp>
      <p:sp>
        <p:nvSpPr>
          <p:cNvPr id="24" name="TextBox 23"/>
          <p:cNvSpPr txBox="1"/>
          <p:nvPr/>
        </p:nvSpPr>
        <p:spPr>
          <a:xfrm>
            <a:off x="7726679" y="2834640"/>
            <a:ext cx="192024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33.3%</a:t>
            </a:r>
          </a:p>
        </p:txBody>
      </p:sp>
      <p:sp>
        <p:nvSpPr>
          <p:cNvPr id="25" name="TextBox 24"/>
          <p:cNvSpPr txBox="1"/>
          <p:nvPr/>
        </p:nvSpPr>
        <p:spPr>
          <a:xfrm>
            <a:off x="9738360" y="2834640"/>
            <a:ext cx="1920240" cy="457200"/>
          </a:xfrm>
          <a:prstGeom prst="rect">
            <a:avLst/>
          </a:prstGeom>
          <a:noFill/>
        </p:spPr>
        <p:txBody>
          <a:bodyPr wrap="square" anchor="t" lIns="0" rIns="0" tIns="0" bIns="0">
            <a:spAutoFit/>
          </a:bodyPr>
          <a:lstStyle/>
          <a:p>
            <a:pPr algn="r">
              <a:lnSpc>
                <a:spcPct val="115000"/>
              </a:lnSpc>
            </a:pPr>
            <a:r>
              <a:rPr sz="1300" b="1" i="0">
                <a:solidFill>
                  <a:srgbClr val="1B1F29"/>
                </a:solidFill>
                <a:latin typeface="Helvetica Neue"/>
              </a:rPr>
              <a:t>55.6%</a:t>
            </a:r>
          </a:p>
        </p:txBody>
      </p:sp>
      <p:sp>
        <p:nvSpPr>
          <p:cNvPr id="26" name="Rectangle 25"/>
          <p:cNvSpPr/>
          <p:nvPr/>
        </p:nvSpPr>
        <p:spPr>
          <a:xfrm>
            <a:off x="502920" y="3383280"/>
            <a:ext cx="11183112" cy="5943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429000"/>
            <a:ext cx="3931920" cy="457200"/>
          </a:xfrm>
          <a:prstGeom prst="rect">
            <a:avLst/>
          </a:prstGeom>
          <a:noFill/>
        </p:spPr>
        <p:txBody>
          <a:bodyPr wrap="square" anchor="t" lIns="0" rIns="0" tIns="0" bIns="0">
            <a:spAutoFit/>
          </a:bodyPr>
          <a:lstStyle/>
          <a:p>
            <a:pPr algn="l">
              <a:lnSpc>
                <a:spcPct val="115000"/>
              </a:lnSpc>
            </a:pPr>
            <a:r>
              <a:rPr sz="1300" b="1" i="0">
                <a:solidFill>
                  <a:srgbClr val="1B1F29"/>
                </a:solidFill>
                <a:latin typeface="Helvetica Neue"/>
              </a:rPr>
              <a:t>Diversified (25/25/25/25)</a:t>
            </a:r>
          </a:p>
        </p:txBody>
      </p:sp>
      <p:sp>
        <p:nvSpPr>
          <p:cNvPr id="28" name="TextBox 27"/>
          <p:cNvSpPr txBox="1"/>
          <p:nvPr/>
        </p:nvSpPr>
        <p:spPr>
          <a:xfrm>
            <a:off x="4526280" y="3429000"/>
            <a:ext cx="12801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−21.25%</a:t>
            </a:r>
          </a:p>
        </p:txBody>
      </p:sp>
      <p:sp>
        <p:nvSpPr>
          <p:cNvPr id="29" name="TextBox 28"/>
          <p:cNvSpPr txBox="1"/>
          <p:nvPr/>
        </p:nvSpPr>
        <p:spPr>
          <a:xfrm>
            <a:off x="5897880" y="3429000"/>
            <a:ext cx="17373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USD 393.75M</a:t>
            </a:r>
          </a:p>
        </p:txBody>
      </p:sp>
      <p:sp>
        <p:nvSpPr>
          <p:cNvPr id="30" name="TextBox 29"/>
          <p:cNvSpPr txBox="1"/>
          <p:nvPr/>
        </p:nvSpPr>
        <p:spPr>
          <a:xfrm>
            <a:off x="7726679" y="3429000"/>
            <a:ext cx="192024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38.1%</a:t>
            </a:r>
          </a:p>
        </p:txBody>
      </p:sp>
      <p:sp>
        <p:nvSpPr>
          <p:cNvPr id="31" name="TextBox 30"/>
          <p:cNvSpPr txBox="1"/>
          <p:nvPr/>
        </p:nvSpPr>
        <p:spPr>
          <a:xfrm>
            <a:off x="9738360" y="3429000"/>
            <a:ext cx="1920240" cy="457200"/>
          </a:xfrm>
          <a:prstGeom prst="rect">
            <a:avLst/>
          </a:prstGeom>
          <a:noFill/>
        </p:spPr>
        <p:txBody>
          <a:bodyPr wrap="square" anchor="t" lIns="0" rIns="0" tIns="0" bIns="0">
            <a:spAutoFit/>
          </a:bodyPr>
          <a:lstStyle/>
          <a:p>
            <a:pPr algn="r">
              <a:lnSpc>
                <a:spcPct val="115000"/>
              </a:lnSpc>
            </a:pPr>
            <a:r>
              <a:rPr sz="1300" b="1" i="0">
                <a:solidFill>
                  <a:srgbClr val="1B1F29"/>
                </a:solidFill>
                <a:latin typeface="Helvetica Neue"/>
              </a:rPr>
              <a:t>63.5%</a:t>
            </a:r>
          </a:p>
        </p:txBody>
      </p:sp>
      <p:sp>
        <p:nvSpPr>
          <p:cNvPr id="32" name="Rectangle 31"/>
          <p:cNvSpPr/>
          <p:nvPr/>
        </p:nvSpPr>
        <p:spPr>
          <a:xfrm>
            <a:off x="502920" y="4023360"/>
            <a:ext cx="3611880" cy="20116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023360"/>
            <a:ext cx="361188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206240"/>
            <a:ext cx="3291840" cy="365760"/>
          </a:xfrm>
          <a:prstGeom prst="rect">
            <a:avLst/>
          </a:prstGeom>
          <a:noFill/>
        </p:spPr>
        <p:txBody>
          <a:bodyPr wrap="square" anchor="t" lIns="0" rIns="0" tIns="0" bIns="0">
            <a:spAutoFit/>
          </a:bodyPr>
          <a:lstStyle/>
          <a:p>
            <a:pPr algn="l">
              <a:lnSpc>
                <a:spcPct val="115000"/>
              </a:lnSpc>
            </a:pPr>
            <a:r>
              <a:rPr sz="2200" b="1" i="0">
                <a:solidFill>
                  <a:srgbClr val="B6142E"/>
                </a:solidFill>
                <a:latin typeface="Helvetica Neue"/>
              </a:rPr>
              <a:t>01</a:t>
            </a:r>
          </a:p>
        </p:txBody>
      </p:sp>
      <p:sp>
        <p:nvSpPr>
          <p:cNvPr id="35" name="TextBox 34"/>
          <p:cNvSpPr txBox="1"/>
          <p:nvPr/>
        </p:nvSpPr>
        <p:spPr>
          <a:xfrm>
            <a:off x="685800" y="4800600"/>
            <a:ext cx="3291840" cy="1188720"/>
          </a:xfrm>
          <a:prstGeom prst="rect">
            <a:avLst/>
          </a:prstGeom>
          <a:noFill/>
        </p:spPr>
        <p:txBody>
          <a:bodyPr wrap="square" anchor="t" lIns="0" rIns="0" tIns="0" bIns="0">
            <a:spAutoFit/>
          </a:bodyPr>
          <a:lstStyle/>
          <a:p>
            <a:pPr algn="l">
              <a:lnSpc>
                <a:spcPct val="130000"/>
              </a:lnSpc>
            </a:pPr>
            <a:r>
              <a:rPr sz="1200" b="0" i="0">
                <a:solidFill>
                  <a:srgbClr val="1B1F29"/>
                </a:solidFill>
                <a:latin typeface="Helvetica Neue"/>
              </a:rPr>
              <a:t>At 30% initial LTV, no tilt breaches. Conservative facility sizing absorbs every shock.</a:t>
            </a:r>
          </a:p>
        </p:txBody>
      </p:sp>
      <p:sp>
        <p:nvSpPr>
          <p:cNvPr id="36" name="Rectangle 35"/>
          <p:cNvSpPr/>
          <p:nvPr/>
        </p:nvSpPr>
        <p:spPr>
          <a:xfrm>
            <a:off x="4297680" y="4023360"/>
            <a:ext cx="3611880" cy="20116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7680" y="4023360"/>
            <a:ext cx="361188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0560" y="4206240"/>
            <a:ext cx="3291840" cy="365760"/>
          </a:xfrm>
          <a:prstGeom prst="rect">
            <a:avLst/>
          </a:prstGeom>
          <a:noFill/>
        </p:spPr>
        <p:txBody>
          <a:bodyPr wrap="square" anchor="t" lIns="0" rIns="0" tIns="0" bIns="0">
            <a:spAutoFit/>
          </a:bodyPr>
          <a:lstStyle/>
          <a:p>
            <a:pPr algn="l">
              <a:lnSpc>
                <a:spcPct val="115000"/>
              </a:lnSpc>
            </a:pPr>
            <a:r>
              <a:rPr sz="2200" b="1" i="0">
                <a:solidFill>
                  <a:srgbClr val="B6142E"/>
                </a:solidFill>
                <a:latin typeface="Helvetica Neue"/>
              </a:rPr>
              <a:t>02</a:t>
            </a:r>
          </a:p>
        </p:txBody>
      </p:sp>
      <p:sp>
        <p:nvSpPr>
          <p:cNvPr id="39" name="TextBox 38"/>
          <p:cNvSpPr txBox="1"/>
          <p:nvPr/>
        </p:nvSpPr>
        <p:spPr>
          <a:xfrm>
            <a:off x="4480560" y="4800600"/>
            <a:ext cx="3291840" cy="1188720"/>
          </a:xfrm>
          <a:prstGeom prst="rect">
            <a:avLst/>
          </a:prstGeom>
          <a:noFill/>
        </p:spPr>
        <p:txBody>
          <a:bodyPr wrap="square" anchor="t" lIns="0" rIns="0" tIns="0" bIns="0">
            <a:spAutoFit/>
          </a:bodyPr>
          <a:lstStyle/>
          <a:p>
            <a:pPr algn="l">
              <a:lnSpc>
                <a:spcPct val="130000"/>
              </a:lnSpc>
            </a:pPr>
            <a:r>
              <a:rPr sz="1200" b="0" i="0">
                <a:solidFill>
                  <a:srgbClr val="1B1F29"/>
                </a:solidFill>
                <a:latin typeface="Helvetica Neue"/>
              </a:rPr>
              <a:t>At 50% initial LTV, EV-heavy tilts breach by ~12 points. Data-center heavy tilts stay 9 points inside.</a:t>
            </a:r>
          </a:p>
        </p:txBody>
      </p:sp>
      <p:sp>
        <p:nvSpPr>
          <p:cNvPr id="40" name="Rectangle 39"/>
          <p:cNvSpPr/>
          <p:nvPr/>
        </p:nvSpPr>
        <p:spPr>
          <a:xfrm>
            <a:off x="8092440" y="4023360"/>
            <a:ext cx="3611880" cy="20116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92440" y="4023360"/>
            <a:ext cx="361188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75320" y="4206240"/>
            <a:ext cx="3291840" cy="365760"/>
          </a:xfrm>
          <a:prstGeom prst="rect">
            <a:avLst/>
          </a:prstGeom>
          <a:noFill/>
        </p:spPr>
        <p:txBody>
          <a:bodyPr wrap="square" anchor="t" lIns="0" rIns="0" tIns="0" bIns="0">
            <a:spAutoFit/>
          </a:bodyPr>
          <a:lstStyle/>
          <a:p>
            <a:pPr algn="l">
              <a:lnSpc>
                <a:spcPct val="115000"/>
              </a:lnSpc>
            </a:pPr>
            <a:r>
              <a:rPr sz="2200" b="1" i="0">
                <a:solidFill>
                  <a:srgbClr val="B6142E"/>
                </a:solidFill>
                <a:latin typeface="Helvetica Neue"/>
              </a:rPr>
              <a:t>03</a:t>
            </a:r>
          </a:p>
        </p:txBody>
      </p:sp>
      <p:sp>
        <p:nvSpPr>
          <p:cNvPr id="43" name="TextBox 42"/>
          <p:cNvSpPr txBox="1"/>
          <p:nvPr/>
        </p:nvSpPr>
        <p:spPr>
          <a:xfrm>
            <a:off x="8275320" y="4800600"/>
            <a:ext cx="3291840" cy="1188720"/>
          </a:xfrm>
          <a:prstGeom prst="rect">
            <a:avLst/>
          </a:prstGeom>
          <a:noFill/>
        </p:spPr>
        <p:txBody>
          <a:bodyPr wrap="square" anchor="t" lIns="0" rIns="0" tIns="0" bIns="0">
            <a:spAutoFit/>
          </a:bodyPr>
          <a:lstStyle/>
          <a:p>
            <a:pPr algn="l">
              <a:lnSpc>
                <a:spcPct val="130000"/>
              </a:lnSpc>
            </a:pPr>
            <a:r>
              <a:rPr sz="1200" b="0" i="0">
                <a:solidFill>
                  <a:srgbClr val="1B1F29"/>
                </a:solidFill>
                <a:latin typeface="Helvetica Neue"/>
              </a:rPr>
              <a:t>Diversified 25/25/25/25 sits 1.5pp below covenant — safe on paper, fragile in practice. A 5pp extra EV tilt breaches.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08  ·  HONEST LIMITS + ROADMAP</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What the model is not — and what comes next</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10 / 13</a:t>
            </a:r>
          </a:p>
        </p:txBody>
      </p:sp>
      <p:sp>
        <p:nvSpPr>
          <p:cNvPr id="9" name="Rectangle 8"/>
          <p:cNvSpPr/>
          <p:nvPr/>
        </p:nvSpPr>
        <p:spPr>
          <a:xfrm>
            <a:off x="502920" y="1691640"/>
            <a:ext cx="5486400" cy="4480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5486400" cy="320040"/>
          </a:xfrm>
          <a:prstGeom prst="rect">
            <a:avLst/>
          </a:prstGeom>
          <a:noFill/>
        </p:spPr>
        <p:txBody>
          <a:bodyPr wrap="square" anchor="t" lIns="0" rIns="0" tIns="0" bIns="0">
            <a:spAutoFit/>
          </a:bodyPr>
          <a:lstStyle/>
          <a:p>
            <a:pPr algn="l">
              <a:lnSpc>
                <a:spcPct val="115000"/>
              </a:lnSpc>
            </a:pPr>
            <a:r>
              <a:rPr sz="1000" b="1" i="0">
                <a:solidFill>
                  <a:srgbClr val="A81B1B"/>
                </a:solidFill>
                <a:latin typeface="Helvetica Neue"/>
              </a:rPr>
              <a:t>WHAT THIS MODEL IS NOT</a:t>
            </a:r>
          </a:p>
        </p:txBody>
      </p:sp>
      <p:sp>
        <p:nvSpPr>
          <p:cNvPr id="11" name="TextBox 10"/>
          <p:cNvSpPr txBox="1"/>
          <p:nvPr/>
        </p:nvSpPr>
        <p:spPr>
          <a:xfrm>
            <a:off x="731520" y="2240280"/>
            <a:ext cx="5120640" cy="365760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800"/>
              </a:spcBef>
              <a:buChar char="•"/>
              <a:buFont typeface="Helvetica Neue"/>
            </a:pPr>
            <a:r>
              <a:rPr sz="1150" b="0" i="0">
                <a:solidFill>
                  <a:srgbClr val="1B1F29"/>
                </a:solidFill>
                <a:latin typeface="Helvetica Neue"/>
              </a:rPr>
              <a:t>  Not a production NAV pricing model. No real advance rates, no redetermination logic, no recovery modelling.</a:t>
            </a:r>
          </a:p>
          <a:p>
            <a:pPr algn="l">
              <a:lnSpc>
                <a:spcPct val="130000"/>
              </a:lnSpc>
              <a:spcBef>
                <a:spcPts val="800"/>
              </a:spcBef>
              <a:buChar char="•"/>
              <a:buFont typeface="Helvetica Neue"/>
            </a:pPr>
            <a:r>
              <a:rPr sz="1150" b="0" i="0">
                <a:solidFill>
                  <a:srgbClr val="1B1F29"/>
                </a:solidFill>
                <a:latin typeface="Helvetica Neue"/>
              </a:rPr>
              <a:t>  Stress numbers are illustrative anchors calibrated from listed comparables — not consensus haircuts.</a:t>
            </a:r>
          </a:p>
          <a:p>
            <a:pPr algn="l">
              <a:lnSpc>
                <a:spcPct val="130000"/>
              </a:lnSpc>
              <a:spcBef>
                <a:spcPts val="800"/>
              </a:spcBef>
              <a:buChar char="•"/>
              <a:buFont typeface="Helvetica Neue"/>
            </a:pPr>
            <a:r>
              <a:rPr sz="1150" b="0" i="0">
                <a:solidFill>
                  <a:srgbClr val="1B1F29"/>
                </a:solidFill>
                <a:latin typeface="Helvetica Neue"/>
              </a:rPr>
              <a:t>  Cross-sub-sector correlation is implicitly zero. In practice EV and data-center are partially correlated through rates.</a:t>
            </a:r>
          </a:p>
          <a:p>
            <a:pPr algn="l">
              <a:lnSpc>
                <a:spcPct val="130000"/>
              </a:lnSpc>
              <a:spcBef>
                <a:spcPts val="800"/>
              </a:spcBef>
              <a:buChar char="•"/>
              <a:buFont typeface="Helvetica Neue"/>
            </a:pPr>
            <a:r>
              <a:rPr sz="1150" b="0" i="0">
                <a:solidFill>
                  <a:srgbClr val="1B1F29"/>
                </a:solidFill>
                <a:latin typeface="Helvetica Neue"/>
              </a:rPr>
              <a:t>  Workout mechanics for NAV facility defaults are not modelled — this is pre-recovery LTV.</a:t>
            </a:r>
          </a:p>
        </p:txBody>
      </p:sp>
      <p:sp>
        <p:nvSpPr>
          <p:cNvPr id="12" name="Rectangle 11"/>
          <p:cNvSpPr/>
          <p:nvPr/>
        </p:nvSpPr>
        <p:spPr>
          <a:xfrm>
            <a:off x="6172200" y="1691640"/>
            <a:ext cx="5486400" cy="4480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28800"/>
            <a:ext cx="5486400" cy="320040"/>
          </a:xfrm>
          <a:prstGeom prst="rect">
            <a:avLst/>
          </a:prstGeom>
          <a:noFill/>
        </p:spPr>
        <p:txBody>
          <a:bodyPr wrap="square" anchor="t" lIns="0" rIns="0" tIns="0" bIns="0">
            <a:spAutoFit/>
          </a:bodyPr>
          <a:lstStyle/>
          <a:p>
            <a:pPr algn="l">
              <a:lnSpc>
                <a:spcPct val="115000"/>
              </a:lnSpc>
            </a:pPr>
            <a:r>
              <a:rPr sz="1000" b="1" i="0">
                <a:solidFill>
                  <a:srgbClr val="1F7A3C"/>
                </a:solidFill>
                <a:latin typeface="Helvetica Neue"/>
              </a:rPr>
              <a:t>WHAT I'D BUILD NEXT</a:t>
            </a:r>
          </a:p>
        </p:txBody>
      </p:sp>
      <p:sp>
        <p:nvSpPr>
          <p:cNvPr id="14" name="TextBox 13"/>
          <p:cNvSpPr txBox="1"/>
          <p:nvPr/>
        </p:nvSpPr>
        <p:spPr>
          <a:xfrm>
            <a:off x="6400800" y="2240280"/>
            <a:ext cx="5120640" cy="365760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800"/>
              </a:spcBef>
              <a:buChar char="•"/>
              <a:buFont typeface="Helvetica Neue"/>
            </a:pPr>
            <a:r>
              <a:rPr sz="1150" b="0" i="0">
                <a:solidFill>
                  <a:srgbClr val="1B1F29"/>
                </a:solidFill>
                <a:latin typeface="Helvetica Neue"/>
              </a:rPr>
              <a:t>  Correlation block — at minimum a two-factor decomposition: rate sensitivity and AI-capex sensitivity.</a:t>
            </a:r>
          </a:p>
          <a:p>
            <a:pPr algn="l">
              <a:lnSpc>
                <a:spcPct val="130000"/>
              </a:lnSpc>
              <a:spcBef>
                <a:spcPts val="800"/>
              </a:spcBef>
              <a:buChar char="•"/>
              <a:buFont typeface="Helvetica Neue"/>
            </a:pPr>
            <a:r>
              <a:rPr sz="1150" b="0" i="0">
                <a:solidFill>
                  <a:srgbClr val="1B1F29"/>
                </a:solidFill>
                <a:latin typeface="Helvetica Neue"/>
              </a:rPr>
              <a:t>  Dynamic advance-rate redetermination, so a stress event triggers a borrowing-base reduction before the covenant breaches.</a:t>
            </a:r>
          </a:p>
          <a:p>
            <a:pPr algn="l">
              <a:lnSpc>
                <a:spcPct val="130000"/>
              </a:lnSpc>
              <a:spcBef>
                <a:spcPts val="800"/>
              </a:spcBef>
              <a:buChar char="•"/>
              <a:buFont typeface="Helvetica Neue"/>
            </a:pPr>
            <a:r>
              <a:rPr sz="1150" b="0" i="0">
                <a:solidFill>
                  <a:srgbClr val="1B1F29"/>
                </a:solidFill>
                <a:latin typeface="Helvetica Neue"/>
              </a:rPr>
              <a:t>  Extend to hybrid facilities — let the undrawn subscription line act as a fallback rail when NAV LTV drifts toward covenant.</a:t>
            </a:r>
          </a:p>
          <a:p>
            <a:pPr algn="l">
              <a:lnSpc>
                <a:spcPct val="130000"/>
              </a:lnSpc>
              <a:spcBef>
                <a:spcPts val="800"/>
              </a:spcBef>
              <a:buChar char="•"/>
              <a:buFont typeface="Helvetica Neue"/>
            </a:pPr>
            <a:r>
              <a:rPr sz="1150" b="0" i="0">
                <a:solidFill>
                  <a:srgbClr val="1B1F29"/>
                </a:solidFill>
                <a:latin typeface="Helvetica Neue"/>
              </a:rPr>
              <a:t>  Replace listed-comparable calibration with realised PE marks (your team has these; I don't).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09  ·  METHODOLOGY TRANSFER</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The reflex extends beyond power electronics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11 / 13</a:t>
            </a:r>
          </a:p>
        </p:txBody>
      </p:sp>
      <p:sp>
        <p:nvSpPr>
          <p:cNvPr id="9" name="Rectangle 8"/>
          <p:cNvSpPr/>
          <p:nvPr/>
        </p:nvSpPr>
        <p:spPr>
          <a:xfrm>
            <a:off x="502920" y="1645920"/>
            <a:ext cx="11155680" cy="777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1060704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THESIS</a:t>
            </a:r>
          </a:p>
        </p:txBody>
      </p:sp>
      <p:sp>
        <p:nvSpPr>
          <p:cNvPr id="11" name="TextBox 10"/>
          <p:cNvSpPr txBox="1"/>
          <p:nvPr/>
        </p:nvSpPr>
        <p:spPr>
          <a:xfrm>
            <a:off x="777240" y="2011680"/>
            <a:ext cx="10607040" cy="502920"/>
          </a:xfrm>
          <a:prstGeom prst="rect">
            <a:avLst/>
          </a:prstGeom>
          <a:noFill/>
        </p:spPr>
        <p:txBody>
          <a:bodyPr wrap="square" anchor="t" lIns="0" rIns="0" tIns="0" bIns="0">
            <a:spAutoFit/>
          </a:bodyPr>
          <a:lstStyle/>
          <a:p>
            <a:pPr algn="l">
              <a:lnSpc>
                <a:spcPct val="135000"/>
              </a:lnSpc>
            </a:pPr>
            <a:r>
              <a:rPr sz="1200" b="0" i="1">
                <a:solidFill>
                  <a:srgbClr val="1B1F29"/>
                </a:solidFill>
                <a:latin typeface="Helvetica Neue"/>
              </a:rPr>
              <a:t>The decomposition reflex is not specific to power electronics. Three sketches — sectors where the same approach applies, deliberately without numbers to avoid claiming expertise I don't yet have.</a:t>
            </a:r>
          </a:p>
        </p:txBody>
      </p:sp>
      <p:sp>
        <p:nvSpPr>
          <p:cNvPr id="12" name="Rectangle 11"/>
          <p:cNvSpPr/>
          <p:nvPr/>
        </p:nvSpPr>
        <p:spPr>
          <a:xfrm>
            <a:off x="502920" y="2606040"/>
            <a:ext cx="3657600" cy="3017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606040"/>
            <a:ext cx="365760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43200"/>
            <a:ext cx="3383280" cy="320040"/>
          </a:xfrm>
          <a:prstGeom prst="rect">
            <a:avLst/>
          </a:prstGeom>
          <a:noFill/>
        </p:spPr>
        <p:txBody>
          <a:bodyPr wrap="square" anchor="t" lIns="0" rIns="0" tIns="0" bIns="0">
            <a:spAutoFit/>
          </a:bodyPr>
          <a:lstStyle/>
          <a:p>
            <a:pPr algn="l">
              <a:lnSpc>
                <a:spcPct val="115000"/>
              </a:lnSpc>
            </a:pPr>
            <a:r>
              <a:rPr sz="1400" b="1" i="0">
                <a:solidFill>
                  <a:srgbClr val="1B1F29"/>
                </a:solidFill>
                <a:latin typeface="Helvetica Neue"/>
              </a:rPr>
              <a:t>Semiconductors</a:t>
            </a:r>
          </a:p>
        </p:txBody>
      </p:sp>
      <p:sp>
        <p:nvSpPr>
          <p:cNvPr id="15" name="TextBox 14"/>
          <p:cNvSpPr txBox="1"/>
          <p:nvPr/>
        </p:nvSpPr>
        <p:spPr>
          <a:xfrm>
            <a:off x="685800" y="3063240"/>
            <a:ext cx="338328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AI-era semis PE fund</a:t>
            </a:r>
          </a:p>
        </p:txBody>
      </p:sp>
      <p:sp>
        <p:nvSpPr>
          <p:cNvPr id="16" name="TextBox 15"/>
          <p:cNvSpPr txBox="1"/>
          <p:nvPr/>
        </p:nvSpPr>
        <p:spPr>
          <a:xfrm>
            <a:off x="685800" y="3383280"/>
            <a:ext cx="3291840" cy="1645920"/>
          </a:xfrm>
          <a:prstGeom prst="rect">
            <a:avLst/>
          </a:prstGeom>
          <a:noFill/>
        </p:spPr>
        <p:txBody>
          <a:bodyPr wrap="square" anchor="t" lIns="0" rIns="0" tIns="0" bIns="0">
            <a:spAutoFit/>
          </a:bodyPr>
          <a:lstStyle/>
          <a:p>
            <a:pPr algn="l">
              <a:lnSpc>
                <a:spcPct val="115000"/>
              </a:lnSpc>
            </a:pPr>
            <a:r>
              <a:rPr sz="1000" b="0" i="0">
                <a:solidFill>
                  <a:srgbClr val="1B1F29"/>
                </a:solidFill>
                <a:latin typeface="Helvetica Neue"/>
              </a:rPr>
              <a:t/>
            </a:r>
          </a:p>
          <a:p>
            <a:pPr algn="l">
              <a:lnSpc>
                <a:spcPct val="125000"/>
              </a:lnSpc>
              <a:spcBef>
                <a:spcPts val="300"/>
              </a:spcBef>
              <a:buChar char="•"/>
              <a:buFont typeface="Helvetica Neue"/>
            </a:pPr>
            <a:r>
              <a:rPr sz="1000" b="0" i="0">
                <a:solidFill>
                  <a:srgbClr val="1B1F29"/>
                </a:solidFill>
                <a:latin typeface="Helvetica Neue"/>
              </a:rPr>
              <a:t>  GPU / AI accelerators — hyperscaler concentration</a:t>
            </a:r>
          </a:p>
          <a:p>
            <a:pPr algn="l">
              <a:lnSpc>
                <a:spcPct val="125000"/>
              </a:lnSpc>
              <a:spcBef>
                <a:spcPts val="300"/>
              </a:spcBef>
              <a:buChar char="•"/>
              <a:buFont typeface="Helvetica Neue"/>
            </a:pPr>
            <a:r>
              <a:rPr sz="1000" b="0" i="0">
                <a:solidFill>
                  <a:srgbClr val="1B1F29"/>
                </a:solidFill>
                <a:latin typeface="Helvetica Neue"/>
              </a:rPr>
              <a:t>  ASIC specialists — per-customer design cycle</a:t>
            </a:r>
          </a:p>
          <a:p>
            <a:pPr algn="l">
              <a:lnSpc>
                <a:spcPct val="125000"/>
              </a:lnSpc>
              <a:spcBef>
                <a:spcPts val="300"/>
              </a:spcBef>
              <a:buChar char="•"/>
              <a:buFont typeface="Helvetica Neue"/>
            </a:pPr>
            <a:r>
              <a:rPr sz="1000" b="0" i="0">
                <a:solidFill>
                  <a:srgbClr val="1B1F29"/>
                </a:solidFill>
                <a:latin typeface="Helvetica Neue"/>
              </a:rPr>
              <a:t>  Advanced packaging (CoWoS / HBM) — capacity premium</a:t>
            </a:r>
          </a:p>
          <a:p>
            <a:pPr algn="l">
              <a:lnSpc>
                <a:spcPct val="125000"/>
              </a:lnSpc>
              <a:spcBef>
                <a:spcPts val="300"/>
              </a:spcBef>
              <a:buChar char="•"/>
              <a:buFont typeface="Helvetica Neue"/>
            </a:pPr>
            <a:r>
              <a:rPr sz="1000" b="0" i="0">
                <a:solidFill>
                  <a:srgbClr val="1B1F29"/>
                </a:solidFill>
                <a:latin typeface="Helvetica Neue"/>
              </a:rPr>
              <a:t>  Lithography &amp; deposition (ASML, Applied, Lam) — oligopoly</a:t>
            </a:r>
          </a:p>
          <a:p>
            <a:pPr algn="l">
              <a:lnSpc>
                <a:spcPct val="125000"/>
              </a:lnSpc>
              <a:spcBef>
                <a:spcPts val="300"/>
              </a:spcBef>
              <a:buChar char="•"/>
              <a:buFont typeface="Helvetica Neue"/>
            </a:pPr>
            <a:r>
              <a:rPr sz="1000" b="0" i="0">
                <a:solidFill>
                  <a:srgbClr val="1B1F29"/>
                </a:solidFill>
                <a:latin typeface="Helvetica Neue"/>
              </a:rPr>
              <a:t>  Mature-node foundries — defensive baseline</a:t>
            </a:r>
          </a:p>
        </p:txBody>
      </p:sp>
      <p:sp>
        <p:nvSpPr>
          <p:cNvPr id="17" name="TextBox 16"/>
          <p:cNvSpPr txBox="1"/>
          <p:nvPr/>
        </p:nvSpPr>
        <p:spPr>
          <a:xfrm>
            <a:off x="685800" y="5029200"/>
            <a:ext cx="3383280" cy="182880"/>
          </a:xfrm>
          <a:prstGeom prst="rect">
            <a:avLst/>
          </a:prstGeom>
          <a:noFill/>
        </p:spPr>
        <p:txBody>
          <a:bodyPr wrap="square" anchor="t" lIns="0" rIns="0" tIns="0" bIns="0">
            <a:spAutoFit/>
          </a:bodyPr>
          <a:lstStyle/>
          <a:p>
            <a:pPr algn="l">
              <a:lnSpc>
                <a:spcPct val="115000"/>
              </a:lnSpc>
            </a:pPr>
            <a:r>
              <a:rPr sz="800" b="1" i="0">
                <a:solidFill>
                  <a:srgbClr val="B6142E"/>
                </a:solidFill>
                <a:latin typeface="Helvetica Neue"/>
              </a:rPr>
              <a:t>STRESS DISPERSION FROM:</a:t>
            </a:r>
          </a:p>
        </p:txBody>
      </p:sp>
      <p:sp>
        <p:nvSpPr>
          <p:cNvPr id="18" name="TextBox 17"/>
          <p:cNvSpPr txBox="1"/>
          <p:nvPr/>
        </p:nvSpPr>
        <p:spPr>
          <a:xfrm>
            <a:off x="685800" y="5212080"/>
            <a:ext cx="3383280" cy="365760"/>
          </a:xfrm>
          <a:prstGeom prst="rect">
            <a:avLst/>
          </a:prstGeom>
          <a:noFill/>
        </p:spPr>
        <p:txBody>
          <a:bodyPr wrap="square" anchor="t" lIns="0" rIns="0" tIns="0" bIns="0">
            <a:spAutoFit/>
          </a:bodyPr>
          <a:lstStyle/>
          <a:p>
            <a:pPr algn="l">
              <a:lnSpc>
                <a:spcPct val="125000"/>
              </a:lnSpc>
            </a:pPr>
            <a:r>
              <a:rPr sz="950" b="0" i="1">
                <a:solidFill>
                  <a:srgbClr val="1B1F29"/>
                </a:solidFill>
                <a:latin typeface="Helvetica Neue"/>
              </a:rPr>
              <a:t>Customer concentration × process-node × capex-cycle</a:t>
            </a:r>
          </a:p>
        </p:txBody>
      </p:sp>
      <p:sp>
        <p:nvSpPr>
          <p:cNvPr id="19" name="Rectangle 18"/>
          <p:cNvSpPr/>
          <p:nvPr/>
        </p:nvSpPr>
        <p:spPr>
          <a:xfrm>
            <a:off x="4297680" y="2606040"/>
            <a:ext cx="3657600" cy="3017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2606040"/>
            <a:ext cx="365760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2743200"/>
            <a:ext cx="3383280" cy="320040"/>
          </a:xfrm>
          <a:prstGeom prst="rect">
            <a:avLst/>
          </a:prstGeom>
          <a:noFill/>
        </p:spPr>
        <p:txBody>
          <a:bodyPr wrap="square" anchor="t" lIns="0" rIns="0" tIns="0" bIns="0">
            <a:spAutoFit/>
          </a:bodyPr>
          <a:lstStyle/>
          <a:p>
            <a:pPr algn="l">
              <a:lnSpc>
                <a:spcPct val="115000"/>
              </a:lnSpc>
            </a:pPr>
            <a:r>
              <a:rPr sz="1400" b="1" i="0">
                <a:solidFill>
                  <a:srgbClr val="1B1F29"/>
                </a:solidFill>
                <a:latin typeface="Helvetica Neue"/>
              </a:rPr>
              <a:t>Medical devices</a:t>
            </a:r>
          </a:p>
        </p:txBody>
      </p:sp>
      <p:sp>
        <p:nvSpPr>
          <p:cNvPr id="22" name="TextBox 21"/>
          <p:cNvSpPr txBox="1"/>
          <p:nvPr/>
        </p:nvSpPr>
        <p:spPr>
          <a:xfrm>
            <a:off x="4480560" y="3063240"/>
            <a:ext cx="338328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Surgical / interventional medtech PE</a:t>
            </a:r>
          </a:p>
        </p:txBody>
      </p:sp>
      <p:sp>
        <p:nvSpPr>
          <p:cNvPr id="23" name="TextBox 22"/>
          <p:cNvSpPr txBox="1"/>
          <p:nvPr/>
        </p:nvSpPr>
        <p:spPr>
          <a:xfrm>
            <a:off x="4480560" y="3383280"/>
            <a:ext cx="3291840" cy="1645920"/>
          </a:xfrm>
          <a:prstGeom prst="rect">
            <a:avLst/>
          </a:prstGeom>
          <a:noFill/>
        </p:spPr>
        <p:txBody>
          <a:bodyPr wrap="square" anchor="t" lIns="0" rIns="0" tIns="0" bIns="0">
            <a:spAutoFit/>
          </a:bodyPr>
          <a:lstStyle/>
          <a:p>
            <a:pPr algn="l">
              <a:lnSpc>
                <a:spcPct val="115000"/>
              </a:lnSpc>
            </a:pPr>
            <a:r>
              <a:rPr sz="1000" b="0" i="0">
                <a:solidFill>
                  <a:srgbClr val="1B1F29"/>
                </a:solidFill>
                <a:latin typeface="Helvetica Neue"/>
              </a:rPr>
              <a:t/>
            </a:r>
          </a:p>
          <a:p>
            <a:pPr algn="l">
              <a:lnSpc>
                <a:spcPct val="125000"/>
              </a:lnSpc>
              <a:spcBef>
                <a:spcPts val="300"/>
              </a:spcBef>
              <a:buChar char="•"/>
              <a:buFont typeface="Helvetica Neue"/>
            </a:pPr>
            <a:r>
              <a:rPr sz="1000" b="0" i="0">
                <a:solidFill>
                  <a:srgbClr val="1B1F29"/>
                </a:solidFill>
                <a:latin typeface="Helvetica Neue"/>
              </a:rPr>
              <a:t>  Surgical robotics — 7–10y replacement cycles</a:t>
            </a:r>
          </a:p>
          <a:p>
            <a:pPr algn="l">
              <a:lnSpc>
                <a:spcPct val="125000"/>
              </a:lnSpc>
              <a:spcBef>
                <a:spcPts val="300"/>
              </a:spcBef>
              <a:buChar char="•"/>
              <a:buFont typeface="Helvetica Neue"/>
            </a:pPr>
            <a:r>
              <a:rPr sz="1000" b="0" i="0">
                <a:solidFill>
                  <a:srgbClr val="1B1F29"/>
                </a:solidFill>
                <a:latin typeface="Helvetica Neue"/>
              </a:rPr>
              <a:t>  Disposables &amp; instruments — recurring, GMP moat</a:t>
            </a:r>
          </a:p>
          <a:p>
            <a:pPr algn="l">
              <a:lnSpc>
                <a:spcPct val="125000"/>
              </a:lnSpc>
              <a:spcBef>
                <a:spcPts val="300"/>
              </a:spcBef>
              <a:buChar char="•"/>
              <a:buFont typeface="Helvetica Neue"/>
            </a:pPr>
            <a:r>
              <a:rPr sz="1000" b="0" i="0">
                <a:solidFill>
                  <a:srgbClr val="1B1F29"/>
                </a:solidFill>
                <a:latin typeface="Helvetica Neue"/>
              </a:rPr>
              <a:t>  Digital surgery / workflow software — SaaS-like</a:t>
            </a:r>
          </a:p>
          <a:p>
            <a:pPr algn="l">
              <a:lnSpc>
                <a:spcPct val="125000"/>
              </a:lnSpc>
              <a:spcBef>
                <a:spcPts val="300"/>
              </a:spcBef>
              <a:buChar char="•"/>
              <a:buFont typeface="Helvetica Neue"/>
            </a:pPr>
            <a:r>
              <a:rPr sz="1000" b="0" i="0">
                <a:solidFill>
                  <a:srgbClr val="1B1F29"/>
                </a:solidFill>
                <a:latin typeface="Helvetica Neue"/>
              </a:rPr>
              <a:t>  Interventional cardiology — FDA-pipeline timing</a:t>
            </a:r>
          </a:p>
          <a:p>
            <a:pPr algn="l">
              <a:lnSpc>
                <a:spcPct val="125000"/>
              </a:lnSpc>
              <a:spcBef>
                <a:spcPts val="300"/>
              </a:spcBef>
              <a:buChar char="•"/>
              <a:buFont typeface="Helvetica Neue"/>
            </a:pPr>
            <a:r>
              <a:rPr sz="1000" b="0" i="0">
                <a:solidFill>
                  <a:srgbClr val="1B1F29"/>
                </a:solidFill>
                <a:latin typeface="Helvetica Neue"/>
              </a:rPr>
              <a:t>  Diagnostic imaging — reimbursement-code dynamics</a:t>
            </a:r>
          </a:p>
        </p:txBody>
      </p:sp>
      <p:sp>
        <p:nvSpPr>
          <p:cNvPr id="24" name="TextBox 23"/>
          <p:cNvSpPr txBox="1"/>
          <p:nvPr/>
        </p:nvSpPr>
        <p:spPr>
          <a:xfrm>
            <a:off x="4480560" y="5029200"/>
            <a:ext cx="3383280" cy="182880"/>
          </a:xfrm>
          <a:prstGeom prst="rect">
            <a:avLst/>
          </a:prstGeom>
          <a:noFill/>
        </p:spPr>
        <p:txBody>
          <a:bodyPr wrap="square" anchor="t" lIns="0" rIns="0" tIns="0" bIns="0">
            <a:spAutoFit/>
          </a:bodyPr>
          <a:lstStyle/>
          <a:p>
            <a:pPr algn="l">
              <a:lnSpc>
                <a:spcPct val="115000"/>
              </a:lnSpc>
            </a:pPr>
            <a:r>
              <a:rPr sz="800" b="1" i="0">
                <a:solidFill>
                  <a:srgbClr val="B6142E"/>
                </a:solidFill>
                <a:latin typeface="Helvetica Neue"/>
              </a:rPr>
              <a:t>STRESS DISPERSION FROM:</a:t>
            </a:r>
          </a:p>
        </p:txBody>
      </p:sp>
      <p:sp>
        <p:nvSpPr>
          <p:cNvPr id="25" name="TextBox 24"/>
          <p:cNvSpPr txBox="1"/>
          <p:nvPr/>
        </p:nvSpPr>
        <p:spPr>
          <a:xfrm>
            <a:off x="4480560" y="5212080"/>
            <a:ext cx="3383280" cy="365760"/>
          </a:xfrm>
          <a:prstGeom prst="rect">
            <a:avLst/>
          </a:prstGeom>
          <a:noFill/>
        </p:spPr>
        <p:txBody>
          <a:bodyPr wrap="square" anchor="t" lIns="0" rIns="0" tIns="0" bIns="0">
            <a:spAutoFit/>
          </a:bodyPr>
          <a:lstStyle/>
          <a:p>
            <a:pPr algn="l">
              <a:lnSpc>
                <a:spcPct val="125000"/>
              </a:lnSpc>
            </a:pPr>
            <a:r>
              <a:rPr sz="950" b="0" i="1">
                <a:solidFill>
                  <a:srgbClr val="1B1F29"/>
                </a:solidFill>
                <a:latin typeface="Helvetica Neue"/>
              </a:rPr>
              <a:t>FDA timing × hospital capex × reimbursement codes</a:t>
            </a:r>
          </a:p>
        </p:txBody>
      </p:sp>
      <p:sp>
        <p:nvSpPr>
          <p:cNvPr id="26" name="Rectangle 25"/>
          <p:cNvSpPr/>
          <p:nvPr/>
        </p:nvSpPr>
        <p:spPr>
          <a:xfrm>
            <a:off x="8092440" y="2606040"/>
            <a:ext cx="3657600" cy="3017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92440" y="2606040"/>
            <a:ext cx="365760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2743200"/>
            <a:ext cx="3383280" cy="320040"/>
          </a:xfrm>
          <a:prstGeom prst="rect">
            <a:avLst/>
          </a:prstGeom>
          <a:noFill/>
        </p:spPr>
        <p:txBody>
          <a:bodyPr wrap="square" anchor="t" lIns="0" rIns="0" tIns="0" bIns="0">
            <a:spAutoFit/>
          </a:bodyPr>
          <a:lstStyle/>
          <a:p>
            <a:pPr algn="l">
              <a:lnSpc>
                <a:spcPct val="115000"/>
              </a:lnSpc>
            </a:pPr>
            <a:r>
              <a:rPr sz="1400" b="1" i="0">
                <a:solidFill>
                  <a:srgbClr val="1B1F29"/>
                </a:solidFill>
                <a:latin typeface="Helvetica Neue"/>
              </a:rPr>
              <a:t>Grid modernisation</a:t>
            </a:r>
          </a:p>
        </p:txBody>
      </p:sp>
      <p:sp>
        <p:nvSpPr>
          <p:cNvPr id="29" name="TextBox 28"/>
          <p:cNvSpPr txBox="1"/>
          <p:nvPr/>
        </p:nvSpPr>
        <p:spPr>
          <a:xfrm>
            <a:off x="8275320" y="3063240"/>
            <a:ext cx="338328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T&amp;D / electrification PE fund</a:t>
            </a:r>
          </a:p>
        </p:txBody>
      </p:sp>
      <p:sp>
        <p:nvSpPr>
          <p:cNvPr id="30" name="TextBox 29"/>
          <p:cNvSpPr txBox="1"/>
          <p:nvPr/>
        </p:nvSpPr>
        <p:spPr>
          <a:xfrm>
            <a:off x="8275320" y="3383280"/>
            <a:ext cx="3291840" cy="1645920"/>
          </a:xfrm>
          <a:prstGeom prst="rect">
            <a:avLst/>
          </a:prstGeom>
          <a:noFill/>
        </p:spPr>
        <p:txBody>
          <a:bodyPr wrap="square" anchor="t" lIns="0" rIns="0" tIns="0" bIns="0">
            <a:spAutoFit/>
          </a:bodyPr>
          <a:lstStyle/>
          <a:p>
            <a:pPr algn="l">
              <a:lnSpc>
                <a:spcPct val="115000"/>
              </a:lnSpc>
            </a:pPr>
            <a:r>
              <a:rPr sz="1000" b="0" i="0">
                <a:solidFill>
                  <a:srgbClr val="1B1F29"/>
                </a:solidFill>
                <a:latin typeface="Helvetica Neue"/>
              </a:rPr>
              <a:t/>
            </a:r>
          </a:p>
          <a:p>
            <a:pPr algn="l">
              <a:lnSpc>
                <a:spcPct val="125000"/>
              </a:lnSpc>
              <a:spcBef>
                <a:spcPts val="300"/>
              </a:spcBef>
              <a:buChar char="•"/>
              <a:buFont typeface="Helvetica Neue"/>
            </a:pPr>
            <a:r>
              <a:rPr sz="1000" b="0" i="0">
                <a:solidFill>
                  <a:srgbClr val="1B1F29"/>
                </a:solidFill>
                <a:latin typeface="Helvetica Neue"/>
              </a:rPr>
              <a:t>  T&amp;D equipment — 2–4y lead-time crisis premium</a:t>
            </a:r>
          </a:p>
          <a:p>
            <a:pPr algn="l">
              <a:lnSpc>
                <a:spcPct val="125000"/>
              </a:lnSpc>
              <a:spcBef>
                <a:spcPts val="300"/>
              </a:spcBef>
              <a:buChar char="•"/>
              <a:buFont typeface="Helvetica Neue"/>
            </a:pPr>
            <a:r>
              <a:rPr sz="1000" b="0" i="0">
                <a:solidFill>
                  <a:srgbClr val="1B1F29"/>
                </a:solidFill>
                <a:latin typeface="Helvetica Neue"/>
              </a:rPr>
              <a:t>  Grid-scale storage integrators — queue-dependent</a:t>
            </a:r>
          </a:p>
          <a:p>
            <a:pPr algn="l">
              <a:lnSpc>
                <a:spcPct val="125000"/>
              </a:lnSpc>
              <a:spcBef>
                <a:spcPts val="300"/>
              </a:spcBef>
              <a:buChar char="•"/>
              <a:buFont typeface="Helvetica Neue"/>
            </a:pPr>
            <a:r>
              <a:rPr sz="1000" b="0" i="0">
                <a:solidFill>
                  <a:srgbClr val="1B1F29"/>
                </a:solidFill>
                <a:latin typeface="Helvetica Neue"/>
              </a:rPr>
              <a:t>  DERMS / utility software — recurring + integration</a:t>
            </a:r>
          </a:p>
          <a:p>
            <a:pPr algn="l">
              <a:lnSpc>
                <a:spcPct val="125000"/>
              </a:lnSpc>
              <a:spcBef>
                <a:spcPts val="300"/>
              </a:spcBef>
              <a:buChar char="•"/>
              <a:buFont typeface="Helvetica Neue"/>
            </a:pPr>
            <a:r>
              <a:rPr sz="1000" b="0" i="0">
                <a:solidFill>
                  <a:srgbClr val="1B1F29"/>
                </a:solidFill>
                <a:latin typeface="Helvetica Neue"/>
              </a:rPr>
              <a:t>  EV charging infrastructure — utilisation × policy</a:t>
            </a:r>
          </a:p>
          <a:p>
            <a:pPr algn="l">
              <a:lnSpc>
                <a:spcPct val="125000"/>
              </a:lnSpc>
              <a:spcBef>
                <a:spcPts val="300"/>
              </a:spcBef>
              <a:buChar char="•"/>
              <a:buFont typeface="Helvetica Neue"/>
            </a:pPr>
            <a:r>
              <a:rPr sz="1000" b="0" i="0">
                <a:solidFill>
                  <a:srgbClr val="1B1F29"/>
                </a:solidFill>
                <a:latin typeface="Helvetica Neue"/>
              </a:rPr>
              <a:t>  Interconnection / EPC services — queue management</a:t>
            </a:r>
          </a:p>
        </p:txBody>
      </p:sp>
      <p:sp>
        <p:nvSpPr>
          <p:cNvPr id="31" name="TextBox 30"/>
          <p:cNvSpPr txBox="1"/>
          <p:nvPr/>
        </p:nvSpPr>
        <p:spPr>
          <a:xfrm>
            <a:off x="8275320" y="5029200"/>
            <a:ext cx="3383280" cy="182880"/>
          </a:xfrm>
          <a:prstGeom prst="rect">
            <a:avLst/>
          </a:prstGeom>
          <a:noFill/>
        </p:spPr>
        <p:txBody>
          <a:bodyPr wrap="square" anchor="t" lIns="0" rIns="0" tIns="0" bIns="0">
            <a:spAutoFit/>
          </a:bodyPr>
          <a:lstStyle/>
          <a:p>
            <a:pPr algn="l">
              <a:lnSpc>
                <a:spcPct val="115000"/>
              </a:lnSpc>
            </a:pPr>
            <a:r>
              <a:rPr sz="800" b="1" i="0">
                <a:solidFill>
                  <a:srgbClr val="B6142E"/>
                </a:solidFill>
                <a:latin typeface="Helvetica Neue"/>
              </a:rPr>
              <a:t>STRESS DISPERSION FROM:</a:t>
            </a:r>
          </a:p>
        </p:txBody>
      </p:sp>
      <p:sp>
        <p:nvSpPr>
          <p:cNvPr id="32" name="TextBox 31"/>
          <p:cNvSpPr txBox="1"/>
          <p:nvPr/>
        </p:nvSpPr>
        <p:spPr>
          <a:xfrm>
            <a:off x="8275320" y="5212080"/>
            <a:ext cx="3383280" cy="365760"/>
          </a:xfrm>
          <a:prstGeom prst="rect">
            <a:avLst/>
          </a:prstGeom>
          <a:noFill/>
        </p:spPr>
        <p:txBody>
          <a:bodyPr wrap="square" anchor="t" lIns="0" rIns="0" tIns="0" bIns="0">
            <a:spAutoFit/>
          </a:bodyPr>
          <a:lstStyle/>
          <a:p>
            <a:pPr algn="l">
              <a:lnSpc>
                <a:spcPct val="125000"/>
              </a:lnSpc>
            </a:pPr>
            <a:r>
              <a:rPr sz="950" b="0" i="1">
                <a:solidFill>
                  <a:srgbClr val="1B1F29"/>
                </a:solidFill>
                <a:latin typeface="Helvetica Neue"/>
              </a:rPr>
              <a:t>Utility capex × policy × queue length × lead-time</a:t>
            </a:r>
          </a:p>
        </p:txBody>
      </p:sp>
      <p:sp>
        <p:nvSpPr>
          <p:cNvPr id="33" name="Rectangle 32"/>
          <p:cNvSpPr/>
          <p:nvPr/>
        </p:nvSpPr>
        <p:spPr>
          <a:xfrm>
            <a:off x="502920" y="5852160"/>
            <a:ext cx="11155680" cy="50292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943600"/>
            <a:ext cx="10607040" cy="365760"/>
          </a:xfrm>
          <a:prstGeom prst="rect">
            <a:avLst/>
          </a:prstGeom>
          <a:noFill/>
        </p:spPr>
        <p:txBody>
          <a:bodyPr wrap="square" anchor="t" lIns="0" rIns="0" tIns="0" bIns="0">
            <a:spAutoFit/>
          </a:bodyPr>
          <a:lstStyle/>
          <a:p>
            <a:pPr algn="l">
              <a:lnSpc>
                <a:spcPct val="130000"/>
              </a:lnSpc>
            </a:pPr>
            <a:r>
              <a:rPr sz="1100" b="0" i="1">
                <a:solidFill>
                  <a:srgbClr val="FFFFFF"/>
                </a:solidFill>
                <a:latin typeface="Helvetica Neue"/>
              </a:rPr>
              <a:t>I can sketch the framework — calibrating any of these to covenant-relevant numbers needs the desk's private NAV marks. The reflex is the asset; calibration is the conversation.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10  ·  ABOUT ME</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An engineer applying to a non-engineering seat</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UniCredit Fund Financing  ·  First Look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12 / 13</a:t>
            </a:r>
          </a:p>
        </p:txBody>
      </p:sp>
      <p:sp>
        <p:nvSpPr>
          <p:cNvPr id="9" name="TextBox 8"/>
          <p:cNvSpPr txBox="1"/>
          <p:nvPr/>
        </p:nvSpPr>
        <p:spPr>
          <a:xfrm>
            <a:off x="502920" y="1783080"/>
            <a:ext cx="6400800" cy="36576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BACKGROUND</a:t>
            </a:r>
          </a:p>
        </p:txBody>
      </p:sp>
      <p:sp>
        <p:nvSpPr>
          <p:cNvPr id="10" name="TextBox 9"/>
          <p:cNvSpPr txBox="1"/>
          <p:nvPr/>
        </p:nvSpPr>
        <p:spPr>
          <a:xfrm>
            <a:off x="502920" y="2148840"/>
            <a:ext cx="6400800" cy="384048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5000"/>
              </a:lnSpc>
              <a:spcBef>
                <a:spcPts val="0"/>
              </a:spcBef>
            </a:pPr>
            <a:r>
              <a:rPr sz="1250" b="0" i="0">
                <a:solidFill>
                  <a:srgbClr val="1B1F29"/>
                </a:solidFill>
                <a:latin typeface="Helvetica Neue"/>
              </a:rPr>
              <a:t>EE M.Sc. candidate at Politecnico di Milano, technical concentration in power electronics and control.</a:t>
            </a:r>
          </a:p>
          <a:p>
            <a:pPr algn="l">
              <a:lnSpc>
                <a:spcPct val="135000"/>
              </a:lnSpc>
              <a:spcBef>
                <a:spcPts val="1000"/>
              </a:spcBef>
            </a:pPr>
            <a:r>
              <a:rPr sz="1250" b="0" i="0">
                <a:solidFill>
                  <a:srgbClr val="1B1F29"/>
                </a:solidFill>
                <a:latin typeface="Helvetica Neue"/>
              </a:rPr>
              <a:t>Most recent project: EMI filter design for a switched-mode converter — direct hands-on exposure to the components and end-markets PE capital is currently flowing into.</a:t>
            </a:r>
          </a:p>
          <a:p>
            <a:pPr algn="l">
              <a:lnSpc>
                <a:spcPct val="135000"/>
              </a:lnSpc>
              <a:spcBef>
                <a:spcPts val="1000"/>
              </a:spcBef>
            </a:pPr>
            <a:r>
              <a:rPr sz="1250" b="0" i="0">
                <a:solidFill>
                  <a:srgbClr val="1B1F29"/>
                </a:solidFill>
                <a:latin typeface="Helvetica Neue"/>
              </a:rPr>
              <a:t>Why fund finance, why now: the analytical reflexes from EE — sensitivity, decomposition, stress testing — are the same ones NAV underwriting needs. And the sectors where NAV facilities are growing fastest in 2026 are exactly the ones where engineering literacy at the desk would differentiate the bank.</a:t>
            </a:r>
          </a:p>
        </p:txBody>
      </p:sp>
      <p:sp>
        <p:nvSpPr>
          <p:cNvPr id="11" name="Rectangle 10"/>
          <p:cNvSpPr/>
          <p:nvPr/>
        </p:nvSpPr>
        <p:spPr>
          <a:xfrm>
            <a:off x="7315200" y="1783080"/>
            <a:ext cx="4389120" cy="4160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1920240"/>
            <a:ext cx="4114800" cy="320040"/>
          </a:xfrm>
          <a:prstGeom prst="rect">
            <a:avLst/>
          </a:prstGeom>
          <a:noFill/>
        </p:spPr>
        <p:txBody>
          <a:bodyPr wrap="square" anchor="t" lIns="0" rIns="0" tIns="0" bIns="0">
            <a:spAutoFit/>
          </a:bodyPr>
          <a:lstStyle/>
          <a:p>
            <a:pPr algn="l">
              <a:lnSpc>
                <a:spcPct val="115000"/>
              </a:lnSpc>
            </a:pPr>
            <a:r>
              <a:rPr sz="1000" b="1" i="0">
                <a:solidFill>
                  <a:srgbClr val="1F7A3C"/>
                </a:solidFill>
                <a:latin typeface="Helvetica Neue"/>
              </a:rPr>
              <a:t>WHAT I BRING</a:t>
            </a:r>
          </a:p>
        </p:txBody>
      </p:sp>
      <p:sp>
        <p:nvSpPr>
          <p:cNvPr id="13" name="TextBox 12"/>
          <p:cNvSpPr txBox="1"/>
          <p:nvPr/>
        </p:nvSpPr>
        <p:spPr>
          <a:xfrm>
            <a:off x="7543800" y="2286000"/>
            <a:ext cx="4023360" cy="1554480"/>
          </a:xfrm>
          <a:prstGeom prst="rect">
            <a:avLst/>
          </a:prstGeom>
          <a:noFill/>
        </p:spPr>
        <p:txBody>
          <a:bodyPr wrap="square" anchor="t" lIns="0" rIns="0" tIns="0" bIns="0">
            <a:spAutoFit/>
          </a:bodyPr>
          <a:lstStyle/>
          <a:p>
            <a:pPr algn="l">
              <a:lnSpc>
                <a:spcPct val="115000"/>
              </a:lnSpc>
            </a:pPr>
            <a:r>
              <a:rPr sz="1100" b="0" i="0">
                <a:solidFill>
                  <a:srgbClr val="1B1F29"/>
                </a:solidFill>
                <a:latin typeface="Helvetica Neue"/>
              </a:rPr>
              <a:t/>
            </a:r>
          </a:p>
          <a:p>
            <a:pPr algn="l">
              <a:lnSpc>
                <a:spcPct val="130000"/>
              </a:lnSpc>
              <a:spcBef>
                <a:spcPts val="400"/>
              </a:spcBef>
              <a:buChar char="•"/>
              <a:buFont typeface="Helvetica Neue"/>
            </a:pPr>
            <a:r>
              <a:rPr sz="1150" b="0" i="0">
                <a:solidFill>
                  <a:srgbClr val="1B1F29"/>
                </a:solidFill>
                <a:latin typeface="Helvetica Neue"/>
              </a:rPr>
              <a:t>  Engineering depth in power electronics</a:t>
            </a:r>
          </a:p>
          <a:p>
            <a:pPr algn="l">
              <a:lnSpc>
                <a:spcPct val="130000"/>
              </a:lnSpc>
              <a:spcBef>
                <a:spcPts val="400"/>
              </a:spcBef>
              <a:buChar char="•"/>
              <a:buFont typeface="Helvetica Neue"/>
            </a:pPr>
            <a:r>
              <a:rPr sz="1150" b="0" i="0">
                <a:solidFill>
                  <a:srgbClr val="1B1F29"/>
                </a:solidFill>
                <a:latin typeface="Helvetica Neue"/>
              </a:rPr>
              <a:t>  Python + sensitivity-analysis fluency</a:t>
            </a:r>
          </a:p>
          <a:p>
            <a:pPr algn="l">
              <a:lnSpc>
                <a:spcPct val="130000"/>
              </a:lnSpc>
              <a:spcBef>
                <a:spcPts val="400"/>
              </a:spcBef>
              <a:buChar char="•"/>
              <a:buFont typeface="Helvetica Neue"/>
            </a:pPr>
            <a:r>
              <a:rPr sz="1150" b="0" i="0">
                <a:solidFill>
                  <a:srgbClr val="1B1F29"/>
                </a:solidFill>
                <a:latin typeface="Helvetica Neue"/>
              </a:rPr>
              <a:t>  Reflex for decomposing concentrated risk</a:t>
            </a:r>
          </a:p>
          <a:p>
            <a:pPr algn="l">
              <a:lnSpc>
                <a:spcPct val="130000"/>
              </a:lnSpc>
              <a:spcBef>
                <a:spcPts val="400"/>
              </a:spcBef>
              <a:buChar char="•"/>
              <a:buFont typeface="Helvetica Neue"/>
            </a:pPr>
            <a:r>
              <a:rPr sz="1150" b="0" i="0">
                <a:solidFill>
                  <a:srgbClr val="1B1F29"/>
                </a:solidFill>
                <a:latin typeface="Helvetica Neue"/>
              </a:rPr>
              <a:t>  Willingness to admit what I don't know</a:t>
            </a:r>
          </a:p>
        </p:txBody>
      </p:sp>
      <p:sp>
        <p:nvSpPr>
          <p:cNvPr id="14" name="TextBox 13"/>
          <p:cNvSpPr txBox="1"/>
          <p:nvPr/>
        </p:nvSpPr>
        <p:spPr>
          <a:xfrm>
            <a:off x="7543800" y="4114800"/>
            <a:ext cx="4114800" cy="320040"/>
          </a:xfrm>
          <a:prstGeom prst="rect">
            <a:avLst/>
          </a:prstGeom>
          <a:noFill/>
        </p:spPr>
        <p:txBody>
          <a:bodyPr wrap="square" anchor="t" lIns="0" rIns="0" tIns="0" bIns="0">
            <a:spAutoFit/>
          </a:bodyPr>
          <a:lstStyle/>
          <a:p>
            <a:pPr algn="l">
              <a:lnSpc>
                <a:spcPct val="115000"/>
              </a:lnSpc>
            </a:pPr>
            <a:r>
              <a:rPr sz="1000" b="1" i="0">
                <a:solidFill>
                  <a:srgbClr val="A81B1B"/>
                </a:solidFill>
                <a:latin typeface="Helvetica Neue"/>
              </a:rPr>
              <a:t>WHAT I DON'T (YET)</a:t>
            </a:r>
          </a:p>
        </p:txBody>
      </p:sp>
      <p:sp>
        <p:nvSpPr>
          <p:cNvPr id="15" name="TextBox 14"/>
          <p:cNvSpPr txBox="1"/>
          <p:nvPr/>
        </p:nvSpPr>
        <p:spPr>
          <a:xfrm>
            <a:off x="7543800" y="4434840"/>
            <a:ext cx="4023360" cy="1463040"/>
          </a:xfrm>
          <a:prstGeom prst="rect">
            <a:avLst/>
          </a:prstGeom>
          <a:noFill/>
        </p:spPr>
        <p:txBody>
          <a:bodyPr wrap="square" anchor="t" lIns="0" rIns="0" tIns="0" bIns="0">
            <a:spAutoFit/>
          </a:bodyPr>
          <a:lstStyle/>
          <a:p>
            <a:pPr algn="l">
              <a:lnSpc>
                <a:spcPct val="115000"/>
              </a:lnSpc>
            </a:pPr>
            <a:r>
              <a:rPr sz="1100" b="0" i="0">
                <a:solidFill>
                  <a:srgbClr val="1B1F29"/>
                </a:solidFill>
                <a:latin typeface="Helvetica Neue"/>
              </a:rPr>
              <a:t/>
            </a:r>
          </a:p>
          <a:p>
            <a:pPr algn="l">
              <a:lnSpc>
                <a:spcPct val="130000"/>
              </a:lnSpc>
              <a:spcBef>
                <a:spcPts val="400"/>
              </a:spcBef>
              <a:buChar char="•"/>
              <a:buFont typeface="Helvetica Neue"/>
            </a:pPr>
            <a:r>
              <a:rPr sz="1150" b="0" i="0">
                <a:solidFill>
                  <a:srgbClr val="1B1F29"/>
                </a:solidFill>
                <a:latin typeface="Helvetica Neue"/>
              </a:rPr>
              <a:t>  Transaction experience on NAV deals</a:t>
            </a:r>
          </a:p>
          <a:p>
            <a:pPr algn="l">
              <a:lnSpc>
                <a:spcPct val="130000"/>
              </a:lnSpc>
              <a:spcBef>
                <a:spcPts val="400"/>
              </a:spcBef>
              <a:buChar char="•"/>
              <a:buFont typeface="Helvetica Neue"/>
            </a:pPr>
            <a:r>
              <a:rPr sz="1150" b="0" i="0">
                <a:solidFill>
                  <a:srgbClr val="1B1F29"/>
                </a:solidFill>
                <a:latin typeface="Helvetica Neue"/>
              </a:rPr>
              <a:t>  Legal / credit-document grammar</a:t>
            </a:r>
          </a:p>
          <a:p>
            <a:pPr algn="l">
              <a:lnSpc>
                <a:spcPct val="130000"/>
              </a:lnSpc>
              <a:spcBef>
                <a:spcPts val="400"/>
              </a:spcBef>
              <a:buChar char="•"/>
              <a:buFont typeface="Helvetica Neue"/>
            </a:pPr>
            <a:r>
              <a:rPr sz="1150" b="0" i="0">
                <a:solidFill>
                  <a:srgbClr val="1B1F29"/>
                </a:solidFill>
                <a:latin typeface="Helvetica Neue"/>
              </a:rPr>
              <a:t>  Workout mechanics of facility breaches</a:t>
            </a:r>
          </a:p>
          <a:p>
            <a:pPr algn="l">
              <a:lnSpc>
                <a:spcPct val="130000"/>
              </a:lnSpc>
              <a:spcBef>
                <a:spcPts val="400"/>
              </a:spcBef>
              <a:buChar char="•"/>
              <a:buFont typeface="Helvetica Neue"/>
            </a:pPr>
            <a:r>
              <a:rPr sz="1150" b="0" i="0">
                <a:solidFill>
                  <a:srgbClr val="1B1F29"/>
                </a:solidFill>
                <a:latin typeface="Helvetica Neue"/>
              </a:rPr>
              <a:t>  Desk-level pricing conventions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0"/>
            <a:ext cx="10972800" cy="457200"/>
          </a:xfrm>
          <a:prstGeom prst="rect">
            <a:avLst/>
          </a:prstGeom>
          <a:noFill/>
        </p:spPr>
        <p:txBody>
          <a:bodyPr wrap="square" anchor="t" lIns="0" rIns="0" tIns="0" bIns="0">
            <a:spAutoFit/>
          </a:bodyPr>
          <a:lstStyle/>
          <a:p>
            <a:pPr algn="l">
              <a:lnSpc>
                <a:spcPct val="115000"/>
              </a:lnSpc>
            </a:pPr>
            <a:r>
              <a:rPr sz="1400" b="1" i="0">
                <a:solidFill>
                  <a:srgbClr val="D7AEB5"/>
                </a:solidFill>
                <a:latin typeface="Helvetica Neue"/>
              </a:rPr>
              <a:t>THANK YOU</a:t>
            </a:r>
          </a:p>
        </p:txBody>
      </p:sp>
      <p:sp>
        <p:nvSpPr>
          <p:cNvPr id="5" name="TextBox 4"/>
          <p:cNvSpPr txBox="1"/>
          <p:nvPr/>
        </p:nvSpPr>
        <p:spPr>
          <a:xfrm>
            <a:off x="502920" y="2606040"/>
            <a:ext cx="10972800" cy="822960"/>
          </a:xfrm>
          <a:prstGeom prst="rect">
            <a:avLst/>
          </a:prstGeom>
          <a:noFill/>
        </p:spPr>
        <p:txBody>
          <a:bodyPr wrap="square" anchor="t" lIns="0" rIns="0" tIns="0" bIns="0">
            <a:spAutoFit/>
          </a:bodyPr>
          <a:lstStyle/>
          <a:p>
            <a:pPr algn="l">
              <a:lnSpc>
                <a:spcPct val="115000"/>
              </a:lnSpc>
            </a:pPr>
            <a:r>
              <a:rPr sz="3200" b="1" i="0">
                <a:solidFill>
                  <a:srgbClr val="FFFFFF"/>
                </a:solidFill>
                <a:latin typeface="Helvetica Neue"/>
              </a:rPr>
              <a:t>Happy to walk through the model live —</a:t>
            </a:r>
          </a:p>
        </p:txBody>
      </p:sp>
      <p:sp>
        <p:nvSpPr>
          <p:cNvPr id="6" name="TextBox 5"/>
          <p:cNvSpPr txBox="1"/>
          <p:nvPr/>
        </p:nvSpPr>
        <p:spPr>
          <a:xfrm>
            <a:off x="502920" y="3246120"/>
            <a:ext cx="10972800" cy="822960"/>
          </a:xfrm>
          <a:prstGeom prst="rect">
            <a:avLst/>
          </a:prstGeom>
          <a:noFill/>
        </p:spPr>
        <p:txBody>
          <a:bodyPr wrap="square" anchor="t" lIns="0" rIns="0" tIns="0" bIns="0">
            <a:spAutoFit/>
          </a:bodyPr>
          <a:lstStyle/>
          <a:p>
            <a:pPr algn="l">
              <a:lnSpc>
                <a:spcPct val="115000"/>
              </a:lnSpc>
            </a:pPr>
            <a:r>
              <a:rPr sz="3200" b="1" i="0">
                <a:solidFill>
                  <a:srgbClr val="FFFFFF"/>
                </a:solidFill>
                <a:latin typeface="Helvetica Neue"/>
              </a:rPr>
              <a:t>or step back honestly if it isn't the right fit.</a:t>
            </a:r>
          </a:p>
        </p:txBody>
      </p:sp>
      <p:cxnSp>
        <p:nvCxnSpPr>
          <p:cNvPr id="7" name="Connector 6"/>
          <p:cNvCxnSpPr/>
          <p:nvPr/>
        </p:nvCxnSpPr>
        <p:spPr>
          <a:xfrm>
            <a:off x="502920" y="4937760"/>
            <a:ext cx="1783080" cy="0"/>
          </a:xfrm>
          <a:prstGeom prst="line">
            <a:avLst/>
          </a:prstGeom>
          <a:ln w="25400">
            <a:solidFill>
              <a:srgbClr val="B6142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5120640"/>
            <a:ext cx="10972800" cy="365760"/>
          </a:xfrm>
          <a:prstGeom prst="rect">
            <a:avLst/>
          </a:prstGeom>
          <a:noFill/>
        </p:spPr>
        <p:txBody>
          <a:bodyPr wrap="square" anchor="t" lIns="0" rIns="0" tIns="0" bIns="0">
            <a:spAutoFit/>
          </a:bodyPr>
          <a:lstStyle/>
          <a:p>
            <a:pPr algn="l">
              <a:lnSpc>
                <a:spcPct val="115000"/>
              </a:lnSpc>
            </a:pPr>
            <a:r>
              <a:rPr sz="1400" b="0" i="0">
                <a:solidFill>
                  <a:srgbClr val="FFFFFF"/>
                </a:solidFill>
                <a:latin typeface="Helvetica Neue"/>
              </a:rPr>
              <a:t>Jiawen Cc  ·  Jiawen.Cc@outlook.com</a:t>
            </a:r>
          </a:p>
        </p:txBody>
      </p:sp>
      <p:sp>
        <p:nvSpPr>
          <p:cNvPr id="9" name="TextBox 8"/>
          <p:cNvSpPr txBox="1"/>
          <p:nvPr/>
        </p:nvSpPr>
        <p:spPr>
          <a:xfrm>
            <a:off x="502920" y="5486400"/>
            <a:ext cx="10972800" cy="365760"/>
          </a:xfrm>
          <a:prstGeom prst="rect">
            <a:avLst/>
          </a:prstGeom>
          <a:noFill/>
        </p:spPr>
        <p:txBody>
          <a:bodyPr wrap="square" anchor="t" lIns="0" rIns="0" tIns="0" bIns="0">
            <a:spAutoFit/>
          </a:bodyPr>
          <a:lstStyle/>
          <a:p>
            <a:pPr algn="l">
              <a:lnSpc>
                <a:spcPct val="115000"/>
              </a:lnSpc>
            </a:pPr>
            <a:r>
              <a:rPr sz="1200" b="0" i="0">
                <a:solidFill>
                  <a:srgbClr val="D7AEB5"/>
                </a:solidFill>
                <a:latin typeface="Helvetica Neue"/>
              </a:rPr>
              <a:t>EE M.Sc. candidate  ·  Politecnico di Milano</a:t>
            </a:r>
          </a:p>
        </p:txBody>
      </p:sp>
      <p:sp>
        <p:nvSpPr>
          <p:cNvPr id="10" name="TextBox 9"/>
          <p:cNvSpPr txBox="1"/>
          <p:nvPr/>
        </p:nvSpPr>
        <p:spPr>
          <a:xfrm>
            <a:off x="502920" y="5852160"/>
            <a:ext cx="10972800" cy="365760"/>
          </a:xfrm>
          <a:prstGeom prst="rect">
            <a:avLst/>
          </a:prstGeom>
          <a:noFill/>
        </p:spPr>
        <p:txBody>
          <a:bodyPr wrap="square" anchor="t" lIns="0" rIns="0" tIns="0" bIns="0">
            <a:spAutoFit/>
          </a:bodyPr>
          <a:lstStyle/>
          <a:p>
            <a:pPr algn="l">
              <a:lnSpc>
                <a:spcPct val="115000"/>
              </a:lnSpc>
            </a:pPr>
            <a:r>
              <a:rPr sz="1100" b="0" i="1">
                <a:solidFill>
                  <a:srgbClr val="D7AEB5"/>
                </a:solidFill>
                <a:latin typeface="Helvetica Neue"/>
              </a:rPr>
              <a:t>Source code + page + interview prep:  Desktop/UniCredit-FundFinancing-Application/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